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56dc4dfb16134b7b" /><Relationship Type="http://schemas.openxmlformats.org/package/2006/relationships/metadata/core-properties" Target="/docProps/core.xml" Id="R6587b9309f374be3" /><Relationship Type="http://schemas.openxmlformats.org/officeDocument/2006/relationships/extended-properties" Target="/docProps/app.xml" Id="R4b0d00ad065e4679" /><Relationship Type="http://schemas.openxmlformats.org/officeDocument/2006/relationships/custom-properties" Target="/docProps/custom.xml" Id="Rc70f42bbb0f14cea"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8993193a07884e2c"/>
  </p:notesMasterIdLst>
  <p:sldIdLst>
    <p:sldId id="256" r:id="Rcbc9c7996d2242a6"/>
    <p:sldId id="257" r:id="R11fe850cd80c4447"/>
    <p:sldId id="258" r:id="Rc06ab8ef0b12438e"/>
    <p:sldId id="259" r:id="R1a4f38632e9943a7"/>
    <p:sldId id="260" r:id="R8b010cdbea024218"/>
    <p:sldId id="261" r:id="R7ea765b9a6d34d34"/>
    <p:sldId id="262" r:id="R240e15c0efca4e72"/>
    <p:sldId id="263" r:id="R7b419c1edaf54211"/>
    <p:sldId id="264" r:id="R6c96bd80de784d5c"/>
    <p:sldId id="265" r:id="Rb46a8188ea0b4e9e"/>
    <p:sldId id="266" r:id="R266bba1186dc4450"/>
    <p:sldId id="267" r:id="R9c11fa721e554d0c"/>
    <p:sldId id="268" r:id="R5ee861d2bc154a7c"/>
    <p:sldId id="269" r:id="R65e0613fcee24460"/>
    <p:sldId id="270" r:id="R1d42165591c846e1"/>
    <p:sldId id="271" r:id="Rc3f2dd732eb64789"/>
    <p:sldId id="272" r:id="Rc7b8eb9c78654f97"/>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cbc9c7996d2242a6" /><Relationship Type="http://schemas.openxmlformats.org/officeDocument/2006/relationships/notesMaster" Target="/ppt/notesMasters/notesMaster1.xml" Id="R8993193a07884e2c" /><Relationship Type="http://schemas.openxmlformats.org/officeDocument/2006/relationships/slide" Target="/ppt/slides/slide2.xml" Id="R11fe850cd80c4447" /><Relationship Type="http://schemas.openxmlformats.org/officeDocument/2006/relationships/slide" Target="/ppt/slides/slide3.xml" Id="Rc06ab8ef0b12438e" /><Relationship Type="http://schemas.openxmlformats.org/officeDocument/2006/relationships/slide" Target="/ppt/slides/slide4.xml" Id="R1a4f38632e9943a7" /><Relationship Type="http://schemas.openxmlformats.org/officeDocument/2006/relationships/slide" Target="/ppt/slides/slide5.xml" Id="R8b010cdbea024218" /><Relationship Type="http://schemas.openxmlformats.org/officeDocument/2006/relationships/slide" Target="/ppt/slides/slide6.xml" Id="R7ea765b9a6d34d34" /><Relationship Type="http://schemas.openxmlformats.org/officeDocument/2006/relationships/slide" Target="/ppt/slides/slide7.xml" Id="R240e15c0efca4e72" /><Relationship Type="http://schemas.openxmlformats.org/officeDocument/2006/relationships/slide" Target="/ppt/slides/slide8.xml" Id="R7b419c1edaf54211" /><Relationship Type="http://schemas.openxmlformats.org/officeDocument/2006/relationships/slide" Target="/ppt/slides/slide9.xml" Id="R6c96bd80de784d5c" /><Relationship Type="http://schemas.openxmlformats.org/officeDocument/2006/relationships/slide" Target="/ppt/slides/slide10.xml" Id="Rb46a8188ea0b4e9e" /><Relationship Type="http://schemas.openxmlformats.org/officeDocument/2006/relationships/slide" Target="/ppt/slides/slide11.xml" Id="R266bba1186dc4450" /><Relationship Type="http://schemas.openxmlformats.org/officeDocument/2006/relationships/slide" Target="/ppt/slides/slide12.xml" Id="R9c11fa721e554d0c" /><Relationship Type="http://schemas.openxmlformats.org/officeDocument/2006/relationships/slide" Target="/ppt/slides/slide13.xml" Id="R5ee861d2bc154a7c" /><Relationship Type="http://schemas.openxmlformats.org/officeDocument/2006/relationships/slide" Target="/ppt/slides/slide14.xml" Id="R65e0613fcee24460" /><Relationship Type="http://schemas.openxmlformats.org/officeDocument/2006/relationships/slide" Target="/ppt/slides/slide15.xml" Id="R1d42165591c846e1" /><Relationship Type="http://schemas.openxmlformats.org/officeDocument/2006/relationships/slide" Target="/ppt/slides/slide16.xml" Id="Rc3f2dd732eb64789" /><Relationship Type="http://schemas.openxmlformats.org/officeDocument/2006/relationships/slide" Target="/ppt/slides/slide17.xml" Id="Rc7b8eb9c78654f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6514a9879ab94c77"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25d2a94584524efb" /><Relationship Type="http://schemas.openxmlformats.org/officeDocument/2006/relationships/slide" Target="/ppt/slides/slide1.xml" Id="R294cd9a36e9a4500"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8e065114a30e423d" /><Relationship Type="http://schemas.openxmlformats.org/officeDocument/2006/relationships/slide" Target="/ppt/slides/slide2.xml" Id="Rf170bb47aeef4c9d"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2d2eefa5fd7d441d" /><Relationship Type="http://schemas.openxmlformats.org/officeDocument/2006/relationships/slide" Target="/ppt/slides/slide3.xml" Id="R3fc93579f9374c89"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37ba203e5a97417a" /><Relationship Type="http://schemas.openxmlformats.org/officeDocument/2006/relationships/slide" Target="/ppt/slides/slide4.xml" Id="Rc7b7b16f829d46dc"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4f7a983c01c8416e" /><Relationship Type="http://schemas.openxmlformats.org/officeDocument/2006/relationships/slide" Target="/ppt/slides/slide5.xml" Id="R5c36c5f4fdac42a7"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1b88666654d64f56" /><Relationship Type="http://schemas.openxmlformats.org/officeDocument/2006/relationships/slide" Target="/ppt/slides/slide6.xml" Id="Rf40b713f6d6e4679"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78631005e5d64ec8" /><Relationship Type="http://schemas.openxmlformats.org/officeDocument/2006/relationships/slide" Target="/ppt/slides/slide7.xml" Id="Rb5adf27443994e0f"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dce5141feea74640" /><Relationship Type="http://schemas.openxmlformats.org/officeDocument/2006/relationships/slide" Target="/ppt/slides/slide8.xml" Id="R110baa58fc53455e"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6878a988d49948d5" /><Relationship Type="http://schemas.openxmlformats.org/officeDocument/2006/relationships/slide" Target="/ppt/slides/slide9.xml" Id="R83cdfc7b880d4538"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fb54308b5b244edd" /><Relationship Type="http://schemas.openxmlformats.org/officeDocument/2006/relationships/slide" Target="/ppt/slides/slide10.xml" Id="R30524245471948bf"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8b408a50dba24a03" /><Relationship Type="http://schemas.openxmlformats.org/officeDocument/2006/relationships/slide" Target="/ppt/slides/slide11.xml" Id="Rad992ba388ca4f27"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79ef422bbac04527" /><Relationship Type="http://schemas.openxmlformats.org/officeDocument/2006/relationships/slide" Target="/ppt/slides/slide12.xml" Id="R42b88c8a9c7e4a27"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e26665ea13654611" /><Relationship Type="http://schemas.openxmlformats.org/officeDocument/2006/relationships/slide" Target="/ppt/slides/slide13.xml" Id="R8b639d328572454b"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21fb461174f2474c" /><Relationship Type="http://schemas.openxmlformats.org/officeDocument/2006/relationships/slide" Target="/ppt/slides/slide14.xml" Id="R1d551089214148f5"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19537edeec814815" /><Relationship Type="http://schemas.openxmlformats.org/officeDocument/2006/relationships/slide" Target="/ppt/slides/slide15.xml" Id="R73b86460fe414797"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c3761d0ef75e4990" /><Relationship Type="http://schemas.openxmlformats.org/officeDocument/2006/relationships/slide" Target="/ppt/slides/slide16.xml" Id="R44c2c8f2fcb648e8"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ca221088446644e1" /><Relationship Type="http://schemas.openxmlformats.org/officeDocument/2006/relationships/slide" Target="/ppt/slides/slide17.xml" Id="R798eab3914d34a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Opening slide. Introduce IndustrialGuard AI as an agentic AI manufacturing quality control system built for IBM Problem Statement #37. Emphasise: decision-support tool, not an autonomous controller.</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Set up the manufacturing quality problem. Key insight: defects are predictable from process parameters if you have the right detection and analysis pipeline.</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core design principle: ML/statistical models do all numerical work. Granite LLM handles narration and synthesis only. This is the key differentiator from a simple chatbot.</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 through each layer. Key points: FastAPI is the API gateway, not duplicated logic. LangFlow wires the 4-agent pipeline. IBM Granite is the narration layer only -- never the decision layer.</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DECISION-002 in DECISION_LOG.md. Dataset selected over CNC Milling Tool Wear and SECOM Semiconductor datasets using a weighted scoring matrix. Key advantage: binary defect label + physical failure mode documentation.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DECISION-003: XGBoost selected by validation PR-AUC. Key interview talking point: PR-AUC is the correct metric for imbalanced classification, not accuracy. Explain why Random Forest had better Val F1 but worse PR-AUC.</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Two complementary approaches: Isolation Forest for global non-linear detection, IQR for per-parameter interpretable reporting. Neither uses the LLM. The LLM only narrates the results.</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Key interview point: distinguish between model-derived evidence (SHAP) vs statistical evidence (IQR) vs retrieved documentation (RAG). The system labels each evidence type explicitly. Never claims causation.</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RAG tier system is critical for interview credibility. Explain what each tier is. Emphasise Tier 3 is explicitly labeled as project-generated -- not presented as an official standard. RAG is load-bearing: agents call retrieve() and the output changes the recommendation.</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Key interview point: 4 agents exactly as required by the problem statement. RCA is a capability of Agent 2, not a separate agent. All inter-agent communication is structured JSON -- query the pipeline.py orchestrator to explain this.</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is the core responsible AI slide. The system prompt in granite_client.py has 7 explicit rules. The LLM cannot fabricate thresholds or claim causation. Credentials are never hardcoded -- only from .env. Use_cached=true for demo mode.</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Run python app.py --demo to reproduce this exact output. All 3 scenarios are hardcoded in app.py. The demo takes ~20 seconds end-to-end with cache mode enabled.</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Walk through the dashboard tabs. The Recommendations tab is the key responsible AI demo point -- show the APPROVE/REJECT buttons and explain that no machine action happens without human sign-off.</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test result 41/41 is real -- run py -m pytest tests/ to verify. All ML metrics come from ml/evaluation/model_version_v1.0.json. Never quote a metric that isn't in that file.</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is one of the strongest interview signals. Reviewers look for candidates who understand the gap between demo and production. State each limitation clearly and explain the path to addressing it.</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Demonstrate awareness of the production path. Items 1-4 are immediately actionable. Items 11-14 show awareness of what real industrial AI deployment requires.</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Closing slide. Offer to run python app.py --demo live or walk through the dashboard. Reiterate the core differentiator: the project demonstrates DATA-&gt;ML-&gt;DETECTION-&gt;PREDICTION-&gt;EXPLANATION-&gt;RECOMMENDATION-&gt;HUMAN DECISION, not DATA-&gt;LLM-&gt;generic answer.</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424725507c41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13e67bcb6545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32e396074704d7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4705d44c524e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93dbbdf6b9e41f9"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4f5d5183dff547b6"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e8f149ad1964460d" /><Relationship Type="http://schemas.openxmlformats.org/officeDocument/2006/relationships/notesSlide" Target="/ppt/notesSlides/notesSlide1.xml" Id="Raf6cad5725ac4a8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e79b296511d4aa6" /><Relationship Type="http://schemas.openxmlformats.org/officeDocument/2006/relationships/notesSlide" Target="/ppt/notesSlides/notesSlide2.xml" Id="R9f50f186f25f42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1880cbc8f24845" /><Relationship Type="http://schemas.openxmlformats.org/officeDocument/2006/relationships/notesSlide" Target="/ppt/notesSlides/notesSlide3.xml" Id="R6f8b67d2edd14a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10318482e14e82" /><Relationship Type="http://schemas.openxmlformats.org/officeDocument/2006/relationships/notesSlide" Target="/ppt/notesSlides/notesSlide4.xml" Id="Rda7ee04a12e745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7594373a38b4214" /><Relationship Type="http://schemas.openxmlformats.org/officeDocument/2006/relationships/notesSlide" Target="/ppt/notesSlides/notesSlide5.xml" Id="Rd35f4a3d5fde43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a29f5fa2594589" /><Relationship Type="http://schemas.openxmlformats.org/officeDocument/2006/relationships/notesSlide" Target="/ppt/notesSlides/notesSlide6.xml" Id="Rb5747c45700b45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0b376ed91af4bb0" /><Relationship Type="http://schemas.openxmlformats.org/officeDocument/2006/relationships/notesSlide" Target="/ppt/notesSlides/notesSlide7.xml" Id="R193a8fb92b7b40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683e8ae275463f" /><Relationship Type="http://schemas.openxmlformats.org/officeDocument/2006/relationships/notesSlide" Target="/ppt/notesSlides/notesSlide8.xml" Id="Rb2719b618f8b4c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e06849181d4437a" /><Relationship Type="http://schemas.openxmlformats.org/officeDocument/2006/relationships/notesSlide" Target="/ppt/notesSlides/notesSlide9.xml" Id="Rde123525211448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7cb4bb7ca43481b" /><Relationship Type="http://schemas.openxmlformats.org/officeDocument/2006/relationships/notesSlide" Target="/ppt/notesSlides/notesSlide10.xml" Id="Rcf7e100714d2446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cf7330f954a4cd2" /><Relationship Type="http://schemas.openxmlformats.org/officeDocument/2006/relationships/notesSlide" Target="/ppt/notesSlides/notesSlide11.xml" Id="R704cb81e0b27445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b824044acd04e4d" /><Relationship Type="http://schemas.openxmlformats.org/officeDocument/2006/relationships/notesSlide" Target="/ppt/notesSlides/notesSlide12.xml" Id="R1b5794ee6dc04f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fa98d01416145ea" /><Relationship Type="http://schemas.openxmlformats.org/officeDocument/2006/relationships/notesSlide" Target="/ppt/notesSlides/notesSlide13.xml" Id="R83850feda14d42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8190730f9c4516" /><Relationship Type="http://schemas.openxmlformats.org/officeDocument/2006/relationships/notesSlide" Target="/ppt/notesSlides/notesSlide14.xml" Id="R2190db27ec1e42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b0a60bee1e94cf9" /><Relationship Type="http://schemas.openxmlformats.org/officeDocument/2006/relationships/notesSlide" Target="/ppt/notesSlides/notesSlide15.xml" Id="R2677f9ba72104b0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f5219165e161422d" /><Relationship Type="http://schemas.openxmlformats.org/officeDocument/2006/relationships/notesSlide" Target="/ppt/notesSlides/notesSlide16.xml" Id="Ra9e946c1b6d14f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c209ec855dc4b19" /><Relationship Type="http://schemas.openxmlformats.org/officeDocument/2006/relationships/notesSlide" Target="/ppt/notesSlides/notesSlide17.xml" Id="R52146f4fa4514f28" /></Relationships>
</file>

<file path=ppt/slides/slide1.xml><?xml version="1.0" encoding="utf-8"?>
<p:sld xmlns:p="http://schemas.openxmlformats.org/presentationml/2006/main">
  <p:cSld>
    <p:bg>
      <p:bgPr>
        <a:solidFill xmlns:a="http://schemas.openxmlformats.org/drawingml/2006/main">
          <a:srgbClr val="052FAD"/>
        </a:solidFill>
      </p:bgPr>
    </p:bg>
    <p:spTree>
      <p:nvGrpSpPr>
        <p:cNvPr id="1" name=""/>
        <p:cNvGrpSpPr/>
        <p:nvPr/>
      </p:nvGrpSpPr>
      <p:grpSpPr/>
      <p:sp>
        <p:nvSpPr>
          <p:cNvPr id="100000" name="TitleMain"/>
          <p:cNvSpPr txBox="1"/>
          <p:nvPr/>
        </p:nvSpPr>
        <p:spPr>
          <a:xfrm xmlns:a="http://schemas.openxmlformats.org/drawingml/2006/main">
            <a:off x="540000" y="1080000"/>
            <a:ext cx="10800000" cy="14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800" b="1">
                <a:solidFill>
                  <a:srgbClr val="FFFFFF"/>
                </a:solidFill>
                <a:latin typeface="Calibri"/>
                <a:ea typeface="Calibri"/>
              </a:rPr>
              <a:t>IndustrialGuard AI</a:t>
            </a:r>
          </a:p>
        </p:txBody>
      </p:sp>
      <p:sp>
        <p:nvSpPr>
          <p:cNvPr id="100001" name="Subtitle"/>
          <p:cNvSpPr txBox="1"/>
          <p:nvPr/>
        </p:nvSpPr>
        <p:spPr>
          <a:xfrm xmlns:a="http://schemas.openxmlformats.org/drawingml/2006/main">
            <a:off x="540000" y="270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2200" b="0">
                <a:solidFill>
                  <a:srgbClr val="BDD7EE"/>
                </a:solidFill>
                <a:latin typeface="Calibri"/>
                <a:ea typeface="Calibri"/>
              </a:rPr>
              <a:t>Agentic AI-Powered Manufacturing Quality Control</a:t>
            </a:r>
          </a:p>
          <a:p xmlns:a="http://schemas.openxmlformats.org/drawingml/2006/main">
            <a:r>
              <a:rPr lang="en-US" sz="2200" b="0">
                <a:solidFill>
                  <a:srgbClr val="BDD7EE"/>
                </a:solidFill>
                <a:latin typeface="Calibri"/>
                <a:ea typeface="Calibri"/>
              </a:rPr>
              <a:t>and Defect Prevention System</a:t>
            </a:r>
          </a:p>
        </p:txBody>
      </p:sp>
      <p:sp>
        <p:nvSpPr>
          <p:cNvPr id="100002" name="Problem"/>
          <p:cNvSpPr txBox="1"/>
          <p:nvPr/>
        </p:nvSpPr>
        <p:spPr>
          <a:xfrm xmlns:a="http://schemas.openxmlformats.org/drawingml/2006/main">
            <a:off x="540000" y="396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9DC3E6"/>
                </a:solidFill>
                <a:latin typeface="Calibri"/>
                <a:ea typeface="Calibri"/>
              </a:rPr>
              <a:t>IBM Problem Statement #37  |  Decision-Support Prototype</a:t>
            </a:r>
          </a:p>
        </p:txBody>
      </p:sp>
      <p:sp>
        <p:nvSpPr>
          <p:cNvPr id="100003" name="Disclaimer"/>
          <p:cNvSpPr txBox="1"/>
          <p:nvPr/>
        </p:nvSpPr>
        <p:spPr>
          <a:xfrm xmlns:a="http://schemas.openxmlformats.org/drawingml/2006/main">
            <a:off x="540000" y="612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latin typeface="Calibri"/>
                <a:ea typeface="Calibri"/>
              </a:rPr>
              <a:t>Decision-support prototype. Not for autonomous machine control.</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4"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latin typeface="Calibri"/>
                <a:ea typeface="Calibri"/>
              </a:rPr>
              <a:t>01</a:t>
            </a:r>
          </a:p>
        </p:txBody>
      </p:sp>
      <p:sp>
        <p:nvSpPr>
          <p:cNvPr id="100005"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latin typeface="Calibri"/>
                <a:ea typeface="Calibri"/>
              </a:rPr>
              <a:t>The Problem</a:t>
            </a:r>
          </a:p>
        </p:txBody>
      </p:sp>
      <p:sp>
        <p:nvSpPr>
          <p:cNvPr id="100006" name="Body"/>
          <p:cNvSpPr txBox="1"/>
          <p:nvPr/>
        </p:nvSpPr>
        <p:spPr>
          <a:xfrm xmlns:a="http://schemas.openxmlformats.org/drawingml/2006/main">
            <a:off x="540000" y="1260000"/>
            <a:ext cx="10800000" cy="39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800">
                <a:solidFill>
                  <a:srgbClr val="1F2328"/>
                </a:solidFill>
                <a:latin typeface="Calibri"/>
                <a:ea typeface="Calibri"/>
              </a:rPr>
              <a:t>Manufacturing operations generate continuous multi-sensor telemetry across temperature, pressure, rotational speed, torque, and tool condition parameters.</a:t>
            </a:r>
          </a:p>
          <a:p xmlns:a="http://schemas.openxmlformats.org/drawingml/2006/main">
            <a:r>
              <a:rPr lang="en-US" sz="1800">
                <a:solidFill>
                  <a:srgbClr val="1F2328"/>
                </a:solidFill>
                <a:latin typeface="Calibri"/>
                <a:ea typeface="Calibri"/>
              </a:rPr>
              <a:t/>
            </a:r>
          </a:p>
          <a:p xmlns:a="http://schemas.openxmlformats.org/drawingml/2006/main">
            <a:r>
              <a:rPr lang="en-US" sz="1800">
                <a:solidFill>
                  <a:srgbClr val="1F2328"/>
                </a:solidFill>
                <a:latin typeface="Calibri"/>
                <a:ea typeface="Calibri"/>
              </a:rPr>
              <a:t>Traditional quality control limitations:</a:t>
            </a:r>
          </a:p>
          <a:p xmlns:a="http://schemas.openxmlformats.org/drawingml/2006/main">
            <a:r>
              <a:rPr lang="en-US" sz="1800">
                <a:solidFill>
                  <a:srgbClr val="1F2328"/>
                </a:solidFill>
                <a:latin typeface="Calibri"/>
                <a:ea typeface="Calibri"/>
              </a:rPr>
              <a:t>  • Manual inspection misses early-stage deviations</a:t>
            </a:r>
          </a:p>
          <a:p xmlns:a="http://schemas.openxmlformats.org/drawingml/2006/main">
            <a:r>
              <a:rPr lang="en-US" sz="1800">
                <a:solidFill>
                  <a:srgbClr val="1F2328"/>
                </a:solidFill>
                <a:latin typeface="Calibri"/>
                <a:ea typeface="Calibri"/>
              </a:rPr>
              <a:t>  • Periodic sampling cannot cover 100% of production</a:t>
            </a:r>
          </a:p>
          <a:p xmlns:a="http://schemas.openxmlformats.org/drawingml/2006/main">
            <a:r>
              <a:rPr lang="en-US" sz="1800">
                <a:solidFill>
                  <a:srgbClr val="1F2328"/>
                </a:solidFill>
                <a:latin typeface="Calibri"/>
                <a:ea typeface="Calibri"/>
              </a:rPr>
              <a:t>  • Defects are discovered after the fact — not before</a:t>
            </a:r>
          </a:p>
          <a:p xmlns:a="http://schemas.openxmlformats.org/drawingml/2006/main">
            <a:r>
              <a:rPr lang="en-US" sz="1800">
                <a:solidFill>
                  <a:srgbClr val="1F2328"/>
                </a:solidFill>
                <a:latin typeface="Calibri"/>
                <a:ea typeface="Calibri"/>
              </a:rPr>
              <a:t>  • No systematic root-cause identification</a:t>
            </a:r>
          </a:p>
          <a:p xmlns:a="http://schemas.openxmlformats.org/drawingml/2006/main">
            <a:r>
              <a:rPr lang="en-US" sz="1800">
                <a:solidFill>
                  <a:srgbClr val="1F2328"/>
                </a:solidFill>
                <a:latin typeface="Calibri"/>
                <a:ea typeface="Calibri"/>
              </a:rPr>
              <a:t>  • Operator knowledge not captured or scaled</a:t>
            </a:r>
          </a:p>
          <a:p xmlns:a="http://schemas.openxmlformats.org/drawingml/2006/main">
            <a:r>
              <a:rPr lang="en-US" sz="1800">
                <a:solidFill>
                  <a:srgbClr val="1F2328"/>
                </a:solidFill>
                <a:latin typeface="Calibri"/>
                <a:ea typeface="Calibri"/>
              </a:rPr>
              <a:t/>
            </a:r>
          </a:p>
          <a:p xmlns:a="http://schemas.openxmlformats.org/drawingml/2006/main">
            <a:r>
              <a:rPr lang="en-US" sz="1800">
                <a:solidFill>
                  <a:srgbClr val="1F2328"/>
                </a:solidFill>
                <a:latin typeface="Calibri"/>
                <a:ea typeface="Calibri"/>
              </a:rPr>
              <a:t>The result: scrap, rework, warranty claims, and production downtime.</a:t>
            </a:r>
          </a:p>
        </p:txBody>
      </p:sp>
      <p:sp>
        <p:nvSpPr>
          <p:cNvPr id="100007" name="Stat"/>
          <p:cNvSpPr txBox="1"/>
          <p:nvPr/>
        </p:nvSpPr>
        <p:spPr>
          <a:xfrm xmlns:a="http://schemas.openxmlformats.org/drawingml/2006/main">
            <a:off x="540000" y="540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7C5CD8"/>
                </a:solidFill>
                <a:latin typeface="Calibri"/>
                <a:ea typeface="Calibri"/>
              </a:rPr>
              <a:t>Modern CNC machining: tool wear failure, heat dissipation failure, power failure, and overstrain failure modes — all predictable from process telemetry.</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8"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02</a:t>
            </a:r>
          </a:p>
        </p:txBody>
      </p:sp>
      <p:sp>
        <p:nvSpPr>
          <p:cNvPr id="100009"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Proposed Solution</a:t>
            </a:r>
          </a:p>
        </p:txBody>
      </p:sp>
      <p:sp>
        <p:nvSpPr>
          <p:cNvPr id="100010" name="Tagline"/>
          <p:cNvSpPr txBox="1"/>
          <p:nvPr/>
        </p:nvSpPr>
        <p:spPr>
          <a:xfrm xmlns:a="http://schemas.openxmlformats.org/drawingml/2006/main">
            <a:off x="540000" y="1152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b="1">
                <a:solidFill>
                  <a:srgbClr val="7C5CD8"/>
                </a:solidFill>
              </a:rPr>
              <a:t>DATA  →  ML  →  DETECTION  →  PREDICTION  →  EXPLANATION  →  AGENT REASONING  →  RECOMMENDATION  →  HUMAN DECISION</a:t>
            </a:r>
          </a:p>
        </p:txBody>
      </p:sp>
      <p:sp>
        <p:nvSpPr>
          <p:cNvPr id="100011" name="Body"/>
          <p:cNvSpPr txBox="1"/>
          <p:nvPr/>
        </p:nvSpPr>
        <p:spPr>
          <a:xfrm xmlns:a="http://schemas.openxmlformats.org/drawingml/2006/main">
            <a:off x="540000" y="1800000"/>
            <a:ext cx="10800000" cy="39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700">
                <a:solidFill>
                  <a:srgbClr val="1F2328"/>
                </a:solidFill>
              </a:rPr>
              <a:t>IndustrialGuard AI is a 4-agent agentic AI quality control pipeline that:</a:t>
            </a:r>
          </a:p>
          <a:p xmlns:a="http://schemas.openxmlformats.org/drawingml/2006/main">
            <a:r>
              <a:rPr lang="en-US" sz="1700">
                <a:solidFill>
                  <a:srgbClr val="1F2328"/>
                </a:solidFill>
              </a:rPr>
              <a:t/>
            </a:r>
          </a:p>
          <a:p xmlns:a="http://schemas.openxmlformats.org/drawingml/2006/main">
            <a:r>
              <a:rPr lang="en-US" sz="1700">
                <a:solidFill>
                  <a:srgbClr val="1F2328"/>
                </a:solidFill>
              </a:rPr>
              <a:t>  1.  Continuously monitors CNC process parameters in simulated real time</a:t>
            </a:r>
          </a:p>
          <a:p xmlns:a="http://schemas.openxmlformats.org/drawingml/2006/main">
            <a:r>
              <a:rPr lang="en-US" sz="1700">
                <a:solidFill>
                  <a:srgbClr val="1F2328"/>
                </a:solidFill>
              </a:rPr>
              <a:t>  2.  Detects anomalies using Isolation Forest + statistical IQR bounds</a:t>
            </a:r>
          </a:p>
          <a:p xmlns:a="http://schemas.openxmlformats.org/drawingml/2006/main">
            <a:r>
              <a:rPr lang="en-US" sz="1700">
                <a:solidFill>
                  <a:srgbClr val="1F2328"/>
                </a:solidFill>
              </a:rPr>
              <a:t>  3.  Predicts defect risk using a trained XGBoost classifier (PR-AUC = 0.92)</a:t>
            </a:r>
          </a:p>
          <a:p xmlns:a="http://schemas.openxmlformats.org/drawingml/2006/main">
            <a:r>
              <a:rPr lang="en-US" sz="1700">
                <a:solidFill>
                  <a:srgbClr val="1F2328"/>
                </a:solidFill>
              </a:rPr>
              <a:t>  4.  Explains every prediction with SHAP feature attribution</a:t>
            </a:r>
          </a:p>
          <a:p xmlns:a="http://schemas.openxmlformats.org/drawingml/2006/main">
            <a:r>
              <a:rPr lang="en-US" sz="1700">
                <a:solidFill>
                  <a:srgbClr val="1F2328"/>
                </a:solidFill>
              </a:rPr>
              <a:t>  5.  Retrieves supporting evidence from a 3-tier RAG knowledge base</a:t>
            </a:r>
          </a:p>
          <a:p xmlns:a="http://schemas.openxmlformats.org/drawingml/2006/main">
            <a:r>
              <a:rPr lang="en-US" sz="1700">
                <a:solidFill>
                  <a:srgbClr val="1F2328"/>
                </a:solidFill>
              </a:rPr>
              <a:t>  6.  Generates grounded recommendations traceable to ML evidence</a:t>
            </a:r>
          </a:p>
          <a:p xmlns:a="http://schemas.openxmlformats.org/drawingml/2006/main">
            <a:r>
              <a:rPr lang="en-US" sz="1700">
                <a:solidFill>
                  <a:srgbClr val="1F2328"/>
                </a:solidFill>
              </a:rPr>
              <a:t>  7.  Routes all corrective actions through human engineer review</a:t>
            </a:r>
          </a:p>
          <a:p xmlns:a="http://schemas.openxmlformats.org/drawingml/2006/main">
            <a:r>
              <a:rPr lang="en-US" sz="1700">
                <a:solidFill>
                  <a:srgbClr val="1F2328"/>
                </a:solidFill>
              </a:rPr>
              <a:t>  8.  Narrates findings using IBM Granite Guardian 8B via watsonx.ai</a:t>
            </a:r>
          </a:p>
          <a:p xmlns:a="http://schemas.openxmlformats.org/drawingml/2006/main">
            <a:r>
              <a:rPr lang="en-US" sz="1700">
                <a:solidFill>
                  <a:srgbClr val="1F2328"/>
                </a:solidFill>
              </a:rPr>
              <a:t/>
            </a:r>
          </a:p>
          <a:p xmlns:a="http://schemas.openxmlformats.org/drawingml/2006/main">
            <a:r>
              <a:rPr lang="en-US" sz="1700">
                <a:solidFill>
                  <a:srgbClr val="1F2328"/>
                </a:solidFill>
              </a:rPr>
              <a:t>Key principle: The LLM narrates. The ML models decide.</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2"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03</a:t>
            </a:r>
          </a:p>
        </p:txBody>
      </p:sp>
      <p:sp>
        <p:nvSpPr>
          <p:cNvPr id="100013"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System Architecture</a:t>
            </a:r>
          </a:p>
        </p:txBody>
      </p:sp>
      <p:sp>
        <p:nvSpPr>
          <p:cNvPr id="100014" name="Layer1"/>
          <p:cNvSpPr txBox="1"/>
          <p:nvPr/>
        </p:nvSpPr>
        <p:spPr>
          <a:xfrm xmlns:a="http://schemas.openxmlformats.org/drawingml/2006/main">
            <a:off x="540000" y="1152000"/>
            <a:ext cx="10800000" cy="468000"/>
          </a:xfrm>
          <a:prstGeom xmlns:a="http://schemas.openxmlformats.org/drawingml/2006/main" prst="rect">
            <a:avLst/>
          </a:prstGeom>
          <a:solidFill xmlns:a="http://schemas.openxmlformats.org/drawingml/2006/main">
            <a:srgbClr val="052FAD"/>
          </a:solidFill>
        </p:spPr>
        <p:txBody>
          <a:bodyPr xmlns:a="http://schemas.openxmlformats.org/drawingml/2006/main"/>
          <a:lstStyle xmlns:a="http://schemas.openxmlformats.org/drawingml/2006/main"/>
          <a:p xmlns:a="http://schemas.openxmlformats.org/drawingml/2006/main">
            <a:r>
              <a:rPr lang="en-US" sz="1600" b="1">
                <a:solidFill>
                  <a:srgbClr val="FFFFFF"/>
                </a:solidFill>
              </a:rPr>
              <a:t>React Next.js Dashboard  +  Standalone HTML Dashboard</a:t>
            </a:r>
          </a:p>
        </p:txBody>
      </p:sp>
      <p:sp>
        <p:nvSpPr>
          <p:cNvPr id="100015" name="Arrow1"/>
          <p:cNvSpPr txBox="1"/>
          <p:nvPr/>
        </p:nvSpPr>
        <p:spPr>
          <a:xfrm xmlns:a="http://schemas.openxmlformats.org/drawingml/2006/main">
            <a:off x="5040000" y="1692000"/>
            <a:ext cx="180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7C5CD8"/>
                </a:solidFill>
              </a:rPr>
              <a:t>REST API / JSON</a:t>
            </a:r>
          </a:p>
        </p:txBody>
      </p:sp>
      <p:sp>
        <p:nvSpPr>
          <p:cNvPr id="100016" name="Layer2"/>
          <p:cNvSpPr txBox="1"/>
          <p:nvPr/>
        </p:nvSpPr>
        <p:spPr>
          <a:xfrm xmlns:a="http://schemas.openxmlformats.org/drawingml/2006/main">
            <a:off x="540000" y="1980000"/>
            <a:ext cx="10800000" cy="468000"/>
          </a:xfrm>
          <a:prstGeom xmlns:a="http://schemas.openxmlformats.org/drawingml/2006/main" prst="rect">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a:r>
              <a:rPr lang="en-US" sz="1600" b="1">
                <a:solidFill>
                  <a:srgbClr val="FFFFFF"/>
                </a:solidFill>
              </a:rPr>
              <a:t>FastAPI Backend  |  SQLAlchemy ORM  |  SQLite Database</a:t>
            </a:r>
          </a:p>
        </p:txBody>
      </p:sp>
      <p:sp>
        <p:nvSpPr>
          <p:cNvPr id="100017" name="Arrow2"/>
          <p:cNvSpPr txBox="1"/>
          <p:nvPr/>
        </p:nvSpPr>
        <p:spPr>
          <a:xfrm xmlns:a="http://schemas.openxmlformats.org/drawingml/2006/main">
            <a:off x="3960000" y="2520000"/>
            <a:ext cx="3960000" cy="28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7C5CD8"/>
                </a:solidFill>
              </a:rPr>
              <a:t>Function calls (structured JSON)</a:t>
            </a:r>
          </a:p>
        </p:txBody>
      </p:sp>
      <p:sp>
        <p:nvSpPr>
          <p:cNvPr id="100018" name="Layer3"/>
          <p:cNvSpPr txBox="1"/>
          <p:nvPr/>
        </p:nvSpPr>
        <p:spPr>
          <a:xfrm xmlns:a="http://schemas.openxmlformats.org/drawingml/2006/main">
            <a:off x="540000" y="2808000"/>
            <a:ext cx="10800000" cy="468000"/>
          </a:xfrm>
          <a:prstGeom xmlns:a="http://schemas.openxmlformats.org/drawingml/2006/main" prst="rect">
            <a:avLst/>
          </a:prstGeom>
          <a:solidFill xmlns:a="http://schemas.openxmlformats.org/drawingml/2006/main">
            <a:srgbClr val="2E75B6"/>
          </a:solidFill>
        </p:spPr>
        <p:txBody>
          <a:bodyPr xmlns:a="http://schemas.openxmlformats.org/drawingml/2006/main"/>
          <a:lstStyle xmlns:a="http://schemas.openxmlformats.org/drawingml/2006/main"/>
          <a:p xmlns:a="http://schemas.openxmlformats.org/drawingml/2006/main">
            <a:r>
              <a:rPr lang="en-US" sz="1600" b="1">
                <a:solidFill>
                  <a:srgbClr val="FFFFFF"/>
                </a:solidFill>
              </a:rPr>
              <a:t>4-Agent Pipeline Orchestrator (agents/orchestrator/pipeline.py)</a:t>
            </a:r>
          </a:p>
        </p:txBody>
      </p:sp>
      <p:sp>
        <p:nvSpPr>
          <p:cNvPr id="100019" name="Agents"/>
          <p:cNvSpPr txBox="1"/>
          <p:nvPr/>
        </p:nvSpPr>
        <p:spPr>
          <a:xfrm xmlns:a="http://schemas.openxmlformats.org/drawingml/2006/main">
            <a:off x="540000" y="3384000"/>
            <a:ext cx="10800000" cy="7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500">
                <a:solidFill>
                  <a:srgbClr val="1F2328"/>
                </a:solidFill>
              </a:rPr>
              <a:t>Agent 1: Process Monitoring     Agent 2: Quality Analysis + RCA</a:t>
            </a:r>
          </a:p>
          <a:p xmlns:a="http://schemas.openxmlformats.org/drawingml/2006/main">
            <a:r>
              <a:rPr lang="en-US" sz="1500">
                <a:solidFill>
                  <a:srgbClr val="1F2328"/>
                </a:solidFill>
              </a:rPr>
              <a:t>Agent 3: Defect Prediction          Agent 4: Process Optimization</a:t>
            </a:r>
          </a:p>
        </p:txBody>
      </p:sp>
      <p:sp>
        <p:nvSpPr>
          <p:cNvPr id="100020" name="Layer4"/>
          <p:cNvSpPr txBox="1"/>
          <p:nvPr/>
        </p:nvSpPr>
        <p:spPr>
          <a:xfrm xmlns:a="http://schemas.openxmlformats.org/drawingml/2006/main">
            <a:off x="540000" y="4248000"/>
            <a:ext cx="10800000" cy="468000"/>
          </a:xfrm>
          <a:prstGeom xmlns:a="http://schemas.openxmlformats.org/drawingml/2006/main" prst="rect">
            <a:avLst/>
          </a:prstGeom>
          <a:solidFill xmlns:a="http://schemas.openxmlformats.org/drawingml/2006/main">
            <a:srgbClr val="375623"/>
          </a:solidFill>
        </p:spPr>
        <p:txBody>
          <a:bodyPr xmlns:a="http://schemas.openxmlformats.org/drawingml/2006/main"/>
          <a:lstStyle xmlns:a="http://schemas.openxmlformats.org/drawingml/2006/main"/>
          <a:p xmlns:a="http://schemas.openxmlformats.org/drawingml/2006/main">
            <a:r>
              <a:rPr lang="en-US" sz="1500" b="1">
                <a:solidFill>
                  <a:srgbClr val="FFFFFF"/>
                </a:solidFill>
              </a:rPr>
              <a:t>XGBoost + Isolation Forest     ChromaDB RAG (12 chunks)     IBM Granite Guardian 8B</a:t>
            </a:r>
          </a:p>
        </p:txBody>
      </p:sp>
      <p:sp>
        <p:nvSpPr>
          <p:cNvPr id="100021" name="Note"/>
          <p:cNvSpPr txBox="1"/>
          <p:nvPr/>
        </p:nvSpPr>
        <p:spPr>
          <a:xfrm xmlns:a="http://schemas.openxmlformats.org/drawingml/2006/main">
            <a:off x="540000" y="48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57606A"/>
                </a:solidFill>
              </a:rPr>
              <a:t>SQLite (MVP) -- upgradeable to PostgreSQL. ChromaDB embedded -- upgradeable to hosted vector DB.</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2"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04</a:t>
            </a:r>
          </a:p>
        </p:txBody>
      </p:sp>
      <p:sp>
        <p:nvSpPr>
          <p:cNvPr id="100023"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Dataset — Gate B Selection</a:t>
            </a:r>
          </a:p>
        </p:txBody>
      </p:sp>
      <p:sp>
        <p:nvSpPr>
          <p:cNvPr id="100024" name="DatasetName"/>
          <p:cNvSpPr txBox="1"/>
          <p:nvPr/>
        </p:nvSpPr>
        <p:spPr>
          <a:xfrm xmlns:a="http://schemas.openxmlformats.org/drawingml/2006/main">
            <a:off x="540000" y="1152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b="1">
                <a:solidFill>
                  <a:srgbClr val="7C5CD8"/>
                </a:solidFill>
              </a:rPr>
              <a:t>AI4I 2020 Predictive Maintenance Dataset  |  UCI Machine Learning Repository  |  CC BY 4.0</a:t>
            </a:r>
          </a:p>
        </p:txBody>
      </p:sp>
      <p:sp>
        <p:nvSpPr>
          <p:cNvPr id="100025" name="Stats"/>
          <p:cNvSpPr txBox="1"/>
          <p:nvPr/>
        </p:nvSpPr>
        <p:spPr>
          <a:xfrm xmlns:a="http://schemas.openxmlformats.org/drawingml/2006/main">
            <a:off x="540000" y="1584000"/>
            <a:ext cx="10800000" cy="72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500">
                <a:solidFill>
                  <a:srgbClr val="1F2328"/>
                </a:solidFill>
              </a:rPr>
              <a:t>Records: 2,000     Features: 5 process parameters     Target: Binary (0=Normal, 1=Defective)</a:t>
            </a:r>
          </a:p>
          <a:p xmlns:a="http://schemas.openxmlformats.org/drawingml/2006/main">
            <a:r>
              <a:rPr lang="en-US" sz="1500">
                <a:solidFill>
                  <a:srgbClr val="1F2328"/>
                </a:solidFill>
              </a:rPr>
              <a:t>Class balance: 77.25% Normal / 22.75% Defective     Missing values: 0     Duplicates: 0</a:t>
            </a:r>
          </a:p>
        </p:txBody>
      </p:sp>
      <p:sp>
        <p:nvSpPr>
          <p:cNvPr id="100026" name="Features"/>
          <p:cNvSpPr txBox="1"/>
          <p:nvPr/>
        </p:nvSpPr>
        <p:spPr>
          <a:xfrm xmlns:a="http://schemas.openxmlformats.org/drawingml/2006/main">
            <a:off x="540000" y="2520000"/>
            <a:ext cx="10800000" cy="21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rPr>
              <a:t>Feature Descriptions:</a:t>
            </a:r>
          </a:p>
          <a:p xmlns:a="http://schemas.openxmlformats.org/drawingml/2006/main">
            <a:r>
              <a:rPr lang="en-US" sz="1400">
                <a:solidFill>
                  <a:srgbClr val="1F2328"/>
                </a:solidFill>
              </a:rPr>
              <a:t>  air_temperature        Ambient environment temperature (K)   |   Normal range: [296.8, 303.4] K</a:t>
            </a:r>
          </a:p>
          <a:p xmlns:a="http://schemas.openxmlformats.org/drawingml/2006/main">
            <a:r>
              <a:rPr lang="en-US" sz="1400">
                <a:solidFill>
                  <a:srgbClr val="1F2328"/>
                </a:solidFill>
              </a:rPr>
              <a:t>  process_temperature    Internal cutting process temperature (K) |  Normal range: [306.5, 313.9] K</a:t>
            </a:r>
          </a:p>
          <a:p xmlns:a="http://schemas.openxmlformats.org/drawingml/2006/main">
            <a:r>
              <a:rPr lang="en-US" sz="1400">
                <a:solidFill>
                  <a:srgbClr val="1F2328"/>
                </a:solidFill>
              </a:rPr>
              <a:t>  rotational_speed       Spindle angular velocity (RPM)          |  Normal range: [1282.8, 1763.9] RPM</a:t>
            </a:r>
          </a:p>
          <a:p xmlns:a="http://schemas.openxmlformats.org/drawingml/2006/main">
            <a:r>
              <a:rPr lang="en-US" sz="1400">
                <a:solidFill>
                  <a:srgbClr val="1F2328"/>
                </a:solidFill>
              </a:rPr>
              <a:t>  torque                 Spindle torque load during cutting (Nm)  |  Normal range: [25.97, 52.89] Nm</a:t>
            </a:r>
          </a:p>
          <a:p xmlns:a="http://schemas.openxmlformats.org/drawingml/2006/main">
            <a:r>
              <a:rPr lang="en-US" sz="1400">
                <a:solidFill>
                  <a:srgbClr val="1F2328"/>
                </a:solidFill>
              </a:rPr>
              <a:t>  tool_wear              Cumulative cutting time on tool bit (min) | Normal range: [11.4, 221.0] min</a:t>
            </a:r>
          </a:p>
        </p:txBody>
      </p:sp>
      <p:sp>
        <p:nvSpPr>
          <p:cNvPr id="100027" name="Failures"/>
          <p:cNvSpPr txBox="1"/>
          <p:nvPr/>
        </p:nvSpPr>
        <p:spPr>
          <a:xfrm xmlns:a="http://schemas.openxmlformats.org/drawingml/2006/main">
            <a:off x="540000" y="4788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C5CD8"/>
                </a:solidFill>
              </a:rPr>
              <a:t>Failure modes encoded in label: Tool Wear Failure (TWF) | Heat Dissipation Failure (HDF) | Power Failure (PWF) | Overstrain Failure (OSF)</a:t>
            </a:r>
          </a:p>
        </p:txBody>
      </p:sp>
      <p:sp>
        <p:nvSpPr>
          <p:cNvPr id="100028" name="Source"/>
          <p:cNvSpPr txBox="1"/>
          <p:nvPr/>
        </p:nvSpPr>
        <p:spPr>
          <a:xfrm xmlns:a="http://schemas.openxmlformats.org/drawingml/2006/main">
            <a:off x="540000" y="57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57606A"/>
                </a:solidFill>
              </a:rPr>
              <a:t>Source: Real numbers from preprocessing pipeline. Not fabricated. See DATASET.md for full dataset card.</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9"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05</a:t>
            </a:r>
          </a:p>
        </p:txBody>
      </p:sp>
      <p:sp>
        <p:nvSpPr>
          <p:cNvPr id="100030"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052FAD"/>
                </a:solidFill>
              </a:rPr>
              <a:t>ML Methodology — Experiment 1: Model Selection</a:t>
            </a:r>
          </a:p>
        </p:txBody>
      </p:sp>
      <p:sp>
        <p:nvSpPr>
          <p:cNvPr id="100031" name="Rationale"/>
          <p:cNvSpPr txBox="1"/>
          <p:nvPr/>
        </p:nvSpPr>
        <p:spPr>
          <a:xfrm xmlns:a="http://schemas.openxmlformats.org/drawingml/2006/main">
            <a:off x="540000" y="1152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7C5CD8"/>
                </a:solidFill>
              </a:rPr>
              <a:t>Selection criterion: Precision-Recall AUC (PR-AUC) — correct for class-imbalanced defect detection. Accuracy alone is misleading when 77% of records are normal.</a:t>
            </a:r>
          </a:p>
        </p:txBody>
      </p:sp>
      <p:sp>
        <p:nvSpPr>
          <p:cNvPr id="100032" name="TableHeader"/>
          <p:cNvSpPr txBox="1"/>
          <p:nvPr/>
        </p:nvSpPr>
        <p:spPr>
          <a:xfrm xmlns:a="http://schemas.openxmlformats.org/drawingml/2006/main">
            <a:off x="540000" y="1800000"/>
            <a:ext cx="10800000" cy="360000"/>
          </a:xfrm>
          <a:prstGeom xmlns:a="http://schemas.openxmlformats.org/drawingml/2006/main" prst="rect">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a:r>
              <a:rPr lang="en-US" sz="1400" b="1">
                <a:solidFill>
                  <a:srgbClr val="FFFFFF"/>
                </a:solidFill>
              </a:rPr>
              <a:t>Model                   Train F1     Train PR-AUC    Val F1     Val PR-AUC    Val ROC-AUC</a:t>
            </a:r>
          </a:p>
        </p:txBody>
      </p:sp>
      <p:sp>
        <p:nvSpPr>
          <p:cNvPr id="100033" name="Row1"/>
          <p:cNvSpPr txBox="1"/>
          <p:nvPr/>
        </p:nvSpPr>
        <p:spPr>
          <a:xfrm xmlns:a="http://schemas.openxmlformats.org/drawingml/2006/main">
            <a:off x="540000" y="2196000"/>
            <a:ext cx="10800000" cy="360000"/>
          </a:xfrm>
          <a:prstGeom xmlns:a="http://schemas.openxmlformats.org/drawingml/2006/main" prst="rect">
            <a:avLst/>
          </a:prstGeom>
          <a:solidFill xmlns:a="http://schemas.openxmlformats.org/drawingml/2006/main">
            <a:srgbClr val="F7F8FA"/>
          </a:solidFill>
        </p:spPr>
        <p:txBody>
          <a:bodyPr xmlns:a="http://schemas.openxmlformats.org/drawingml/2006/main"/>
          <a:lstStyle xmlns:a="http://schemas.openxmlformats.org/drawingml/2006/main"/>
          <a:p xmlns:a="http://schemas.openxmlformats.org/drawingml/2006/main">
            <a:r>
              <a:rPr lang="en-US" sz="1400">
                <a:solidFill>
                  <a:srgbClr val="1F2328"/>
                </a:solidFill>
              </a:rPr>
              <a:t>Logistic Regression     0.5005       0.5583          0.4767     0.5454        0.7291</a:t>
            </a:r>
          </a:p>
        </p:txBody>
      </p:sp>
      <p:sp>
        <p:nvSpPr>
          <p:cNvPr id="100034" name="Row2"/>
          <p:cNvSpPr txBox="1"/>
          <p:nvPr/>
        </p:nvSpPr>
        <p:spPr>
          <a:xfrm xmlns:a="http://schemas.openxmlformats.org/drawingml/2006/main">
            <a:off x="540000" y="2592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rPr>
              <a:t>Random Forest           0.9969       1.0000          0.7200     0.7946        0.9276</a:t>
            </a:r>
          </a:p>
        </p:txBody>
      </p:sp>
      <p:sp>
        <p:nvSpPr>
          <p:cNvPr id="100035" name="Row3"/>
          <p:cNvSpPr txBox="1"/>
          <p:nvPr/>
        </p:nvSpPr>
        <p:spPr>
          <a:xfrm xmlns:a="http://schemas.openxmlformats.org/drawingml/2006/main">
            <a:off x="540000" y="2988000"/>
            <a:ext cx="10800000" cy="360000"/>
          </a:xfrm>
          <a:prstGeom xmlns:a="http://schemas.openxmlformats.org/drawingml/2006/main" prst="rect">
            <a:avLst/>
          </a:prstGeom>
          <a:solidFill xmlns:a="http://schemas.openxmlformats.org/drawingml/2006/main">
            <a:srgbClr val="2E75B6"/>
          </a:solidFill>
        </p:spPr>
        <p:txBody>
          <a:bodyPr xmlns:a="http://schemas.openxmlformats.org/drawingml/2006/main"/>
          <a:lstStyle xmlns:a="http://schemas.openxmlformats.org/drawingml/2006/main"/>
          <a:p xmlns:a="http://schemas.openxmlformats.org/drawingml/2006/main">
            <a:r>
              <a:rPr lang="en-US" sz="1400" b="1">
                <a:solidFill>
                  <a:srgbClr val="FFFFFF"/>
                </a:solidFill>
              </a:rPr>
              <a:t>XGBoost (Selected)  *   1.0000       1.0000          0.6977     0.8300        0.9405</a:t>
            </a:r>
          </a:p>
        </p:txBody>
      </p:sp>
      <p:sp>
        <p:nvSpPr>
          <p:cNvPr id="100036" name="TestResults"/>
          <p:cNvSpPr txBox="1"/>
          <p:nvPr/>
        </p:nvSpPr>
        <p:spPr>
          <a:xfrm xmlns:a="http://schemas.openxmlformats.org/drawingml/2006/main">
            <a:off x="540000" y="3528000"/>
            <a:ext cx="10800000" cy="720000"/>
          </a:xfrm>
          <a:prstGeom xmlns:a="http://schemas.openxmlformats.org/drawingml/2006/main" prst="rect">
            <a:avLst/>
          </a:prstGeom>
          <a:solidFill xmlns:a="http://schemas.openxmlformats.org/drawingml/2006/main">
            <a:srgbClr val="375623"/>
          </a:solidFill>
        </p:spPr>
        <p:txBody>
          <a:bodyPr xmlns:a="http://schemas.openxmlformats.org/drawingml/2006/main"/>
          <a:lstStyle xmlns:a="http://schemas.openxmlformats.org/drawingml/2006/main"/>
          <a:p xmlns:a="http://schemas.openxmlformats.org/drawingml/2006/main">
            <a:r>
              <a:rPr lang="en-US" sz="1500" b="1">
                <a:solidFill>
                  <a:srgbClr val="FFFFFF"/>
                </a:solidFill>
              </a:rPr>
              <a:t>Final Test Set Evaluation (held-out 300 records, never seen during training or model selection)</a:t>
            </a:r>
          </a:p>
          <a:p xmlns:a="http://schemas.openxmlformats.org/drawingml/2006/main">
            <a:r>
              <a:rPr lang="en-US" sz="1500" b="1">
                <a:solidFill>
                  <a:srgbClr val="FFFFFF"/>
                </a:solidFill>
              </a:rPr>
              <a:t>  Test F1: 0.8217     Test PR-AUC: 0.9198     Test ROC-AUC: 0.9755</a:t>
            </a:r>
          </a:p>
        </p:txBody>
      </p:sp>
      <p:sp>
        <p:nvSpPr>
          <p:cNvPr id="100037" name="WhyXGB"/>
          <p:cNvSpPr txBox="1"/>
          <p:nvPr/>
        </p:nvSpPr>
        <p:spPr>
          <a:xfrm xmlns:a="http://schemas.openxmlformats.org/drawingml/2006/main">
            <a:off x="540000" y="4392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rPr>
              <a:t>Why XGBoost over Random Forest (higher val F1)?</a:t>
            </a:r>
          </a:p>
          <a:p xmlns:a="http://schemas.openxmlformats.org/drawingml/2006/main">
            <a:r>
              <a:rPr lang="en-US" sz="1400">
                <a:solidFill>
                  <a:srgbClr val="1F2328"/>
                </a:solidFill>
              </a:rPr>
              <a:t>XGBoost achieved superior val PR-AUC (0.8300 vs 0.7946) — the correct imbalanced-class selection metric. XGBoost's sequential error correction handles the minority defect class better under class imbalance.</a:t>
            </a:r>
          </a:p>
        </p:txBody>
      </p:sp>
      <p:sp>
        <p:nvSpPr>
          <p:cNvPr id="100038" name="Source"/>
          <p:cNvSpPr txBox="1"/>
          <p:nvPr/>
        </p:nvSpPr>
        <p:spPr>
          <a:xfrm xmlns:a="http://schemas.openxmlformats.org/drawingml/2006/main">
            <a:off x="540000" y="57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57606A"/>
                </a:solidFill>
              </a:rPr>
              <a:t>All numbers from actual model evaluation. Not fabricated. See ml/evaluation/model_version_v1.0.json</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9"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06</a:t>
            </a:r>
          </a:p>
        </p:txBody>
      </p:sp>
      <p:sp>
        <p:nvSpPr>
          <p:cNvPr id="100040"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Anomaly Detection</a:t>
            </a:r>
          </a:p>
        </p:txBody>
      </p:sp>
      <p:sp>
        <p:nvSpPr>
          <p:cNvPr id="100041" name="IsolationForest"/>
          <p:cNvSpPr txBox="1"/>
          <p:nvPr/>
        </p:nvSpPr>
        <p:spPr>
          <a:xfrm xmlns:a="http://schemas.openxmlformats.org/drawingml/2006/main">
            <a:off x="540000" y="1152000"/>
            <a:ext cx="5220000" cy="252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500">
                <a:solidFill>
                  <a:srgbClr val="1F2328"/>
                </a:solidFill>
              </a:rPr>
              <a:t>Isolation Forest  (Multi-variate, unsupervised)</a:t>
            </a:r>
          </a:p>
          <a:p xmlns:a="http://schemas.openxmlformats.org/drawingml/2006/main">
            <a:r>
              <a:rPr lang="en-US" sz="1500">
                <a:solidFill>
                  <a:srgbClr val="1F2328"/>
                </a:solidFill>
              </a:rPr>
              <a:t>  Trained on normal-class records only (1,545 samples)</a:t>
            </a:r>
          </a:p>
          <a:p xmlns:a="http://schemas.openxmlformats.org/drawingml/2006/main">
            <a:r>
              <a:rPr lang="en-US" sz="1500">
                <a:solidFill>
                  <a:srgbClr val="1F2328"/>
                </a:solidFill>
              </a:rPr>
              <a:t>  Detects global non-linear anomalies across 5D feature space</a:t>
            </a:r>
          </a:p>
          <a:p xmlns:a="http://schemas.openxmlformats.org/drawingml/2006/main">
            <a:r>
              <a:rPr lang="en-US" sz="1500">
                <a:solidFill>
                  <a:srgbClr val="1F2328"/>
                </a:solidFill>
              </a:rPr>
              <a:t>  Contamination parameter: fitted to match class proportion</a:t>
            </a:r>
          </a:p>
          <a:p xmlns:a="http://schemas.openxmlformats.org/drawingml/2006/main">
            <a:r>
              <a:rPr lang="en-US" sz="1500">
                <a:solidFill>
                  <a:srgbClr val="1F2328"/>
                </a:solidFill>
              </a:rPr>
              <a:t>  Output: anomaly score + binary flag (contamination threshold)</a:t>
            </a:r>
          </a:p>
        </p:txBody>
      </p:sp>
      <p:sp>
        <p:nvSpPr>
          <p:cNvPr id="100042" name="IQR"/>
          <p:cNvSpPr txBox="1"/>
          <p:nvPr/>
        </p:nvSpPr>
        <p:spPr>
          <a:xfrm xmlns:a="http://schemas.openxmlformats.org/drawingml/2006/main">
            <a:off x="6120000" y="1152000"/>
            <a:ext cx="5220000" cy="2520000"/>
          </a:xfrm>
          <a:prstGeom xmlns:a="http://schemas.openxmlformats.org/drawingml/2006/main" prst="rect">
            <a:avLst/>
          </a:prstGeom>
          <a:solidFill xmlns:a="http://schemas.openxmlformats.org/drawingml/2006/main">
            <a:srgbClr val="F0FFF0"/>
          </a:solidFill>
        </p:spPr>
        <p:txBody>
          <a:bodyPr xmlns:a="http://schemas.openxmlformats.org/drawingml/2006/main"/>
          <a:lstStyle xmlns:a="http://schemas.openxmlformats.org/drawingml/2006/main"/>
          <a:p xmlns:a="http://schemas.openxmlformats.org/drawingml/2006/main">
            <a:r>
              <a:rPr lang="en-US" sz="1500">
                <a:solidFill>
                  <a:srgbClr val="1F2328"/>
                </a:solidFill>
              </a:rPr>
              <a:t>Statistical IQR Bounds  (Per-parameter, interpretable)</a:t>
            </a:r>
          </a:p>
          <a:p xmlns:a="http://schemas.openxmlformats.org/drawingml/2006/main">
            <a:r>
              <a:rPr lang="en-US" sz="1500">
                <a:solidFill>
                  <a:srgbClr val="1F2328"/>
                </a:solidFill>
              </a:rPr>
              <a:t>  Computed on normal-class baseline: Q1 - 2.5*IQR / Q3 + 2.5*IQR</a:t>
            </a:r>
          </a:p>
          <a:p xmlns:a="http://schemas.openxmlformats.org/drawingml/2006/main">
            <a:r>
              <a:rPr lang="en-US" sz="1500">
                <a:solidFill>
                  <a:srgbClr val="1F2328"/>
                </a:solidFill>
              </a:rPr>
              <a:t>  Provides physical-unit violation reporting</a:t>
            </a:r>
          </a:p>
          <a:p xmlns:a="http://schemas.openxmlformats.org/drawingml/2006/main">
            <a:r>
              <a:rPr lang="en-US" sz="1500">
                <a:solidFill>
                  <a:srgbClr val="1F2328"/>
                </a:solidFill>
              </a:rPr>
              <a:t>  Tells engineer: 'torque = 75.0 Nm is 3.07 IQR units above normal'</a:t>
            </a:r>
          </a:p>
          <a:p xmlns:a="http://schemas.openxmlformats.org/drawingml/2006/main">
            <a:r>
              <a:rPr lang="en-US" sz="1500">
                <a:solidFill>
                  <a:srgbClr val="1F2328"/>
                </a:solidFill>
              </a:rPr>
              <a:t>  Each parameter reported independently with direction + magnitude</a:t>
            </a:r>
          </a:p>
        </p:txBody>
      </p:sp>
      <p:sp>
        <p:nvSpPr>
          <p:cNvPr id="100043" name="Severity"/>
          <p:cNvSpPr txBox="1"/>
          <p:nvPr/>
        </p:nvSpPr>
        <p:spPr>
          <a:xfrm xmlns:a="http://schemas.openxmlformats.org/drawingml/2006/main">
            <a:off x="540000" y="3888000"/>
            <a:ext cx="10800000" cy="1260000"/>
          </a:xfrm>
          <a:prstGeom xmlns:a="http://schemas.openxmlformats.org/drawingml/2006/main" prst="rect">
            <a:avLst/>
          </a:prstGeom>
          <a:solidFill xmlns:a="http://schemas.openxmlformats.org/drawingml/2006/main">
            <a:srgbClr val="FFF8F0"/>
          </a:solidFill>
        </p:spPr>
        <p:txBody>
          <a:bodyPr xmlns:a="http://schemas.openxmlformats.org/drawingml/2006/main"/>
          <a:lstStyle xmlns:a="http://schemas.openxmlformats.org/drawingml/2006/main"/>
          <a:p xmlns:a="http://schemas.openxmlformats.org/drawingml/2006/main">
            <a:r>
              <a:rPr lang="en-US" sz="1500" b="1">
                <a:solidFill>
                  <a:srgbClr val="1F2328"/>
                </a:solidFill>
              </a:rPr>
              <a:t>Composite Severity Classification:</a:t>
            </a:r>
          </a:p>
          <a:p xmlns:a="http://schemas.openxmlformats.org/drawingml/2006/main">
            <a:r>
              <a:rPr lang="en-US" sz="1500" b="1">
                <a:solidFill>
                  <a:srgbClr val="1F2328"/>
                </a:solidFill>
              </a:rPr>
              <a:t>  HIGH   = Isolation Forest flag AND 2+ IQR violations</a:t>
            </a:r>
          </a:p>
          <a:p xmlns:a="http://schemas.openxmlformats.org/drawingml/2006/main">
            <a:r>
              <a:rPr lang="en-US" sz="1500" b="1">
                <a:solidFill>
                  <a:srgbClr val="1F2328"/>
                </a:solidFill>
              </a:rPr>
              <a:t>  MEDIUM = Isolation Forest flag OR 2+ IQR violations</a:t>
            </a:r>
          </a:p>
          <a:p xmlns:a="http://schemas.openxmlformats.org/drawingml/2006/main">
            <a:r>
              <a:rPr lang="en-US" sz="1500" b="1">
                <a:solidFill>
                  <a:srgbClr val="1F2328"/>
                </a:solidFill>
              </a:rPr>
              <a:t>  LOW    = 1 IQR violation only</a:t>
            </a:r>
          </a:p>
          <a:p xmlns:a="http://schemas.openxmlformats.org/drawingml/2006/main">
            <a:r>
              <a:rPr lang="en-US" sz="1500" b="1">
                <a:solidFill>
                  <a:srgbClr val="1F2328"/>
                </a:solidFill>
              </a:rPr>
              <a:t>  NORMAL = No flags</a:t>
            </a:r>
          </a:p>
        </p:txBody>
      </p:sp>
      <p:sp>
        <p:nvSpPr>
          <p:cNvPr id="100044" name="Demo"/>
          <p:cNvSpPr txBox="1"/>
          <p:nvPr/>
        </p:nvSpPr>
        <p:spPr>
          <a:xfrm xmlns:a="http://schemas.openxmlformats.org/drawingml/2006/main">
            <a:off x="540000" y="540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7C5CD8"/>
                </a:solidFill>
              </a:rPr>
              <a:t>Demo: CRITICAL RISK record — torque = 75.0 Nm flagged at 3.07 IQR units above normal range upper bound of 52.89 Nm</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5"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07</a:t>
            </a:r>
          </a:p>
        </p:txBody>
      </p:sp>
      <p:sp>
        <p:nvSpPr>
          <p:cNvPr id="100046"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052FAD"/>
                </a:solidFill>
              </a:rPr>
              <a:t>Explainable AI — SHAP Feature Attribution</a:t>
            </a:r>
          </a:p>
        </p:txBody>
      </p:sp>
      <p:sp>
        <p:nvSpPr>
          <p:cNvPr id="100047" name="Global"/>
          <p:cNvSpPr txBox="1"/>
          <p:nvPr/>
        </p:nvSpPr>
        <p:spPr>
          <a:xfrm xmlns:a="http://schemas.openxmlformats.org/drawingml/2006/main">
            <a:off x="540000" y="1152000"/>
            <a:ext cx="5220000" cy="324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500">
                <a:solidFill>
                  <a:srgbClr val="1F2328"/>
                </a:solidFill>
              </a:rPr>
              <a:t>Global Feature Importance (SHAP TreeExplainer, training set)</a:t>
            </a:r>
          </a:p>
          <a:p xmlns:a="http://schemas.openxmlformats.org/drawingml/2006/main">
            <a:r>
              <a:rPr lang="en-US" sz="1500">
                <a:solidFill>
                  <a:srgbClr val="1F2328"/>
                </a:solidFill>
              </a:rPr>
              <a:t/>
            </a:r>
          </a:p>
          <a:p xmlns:a="http://schemas.openxmlformats.org/drawingml/2006/main">
            <a:r>
              <a:rPr lang="en-US" sz="1500">
                <a:solidFill>
                  <a:srgbClr val="1F2328"/>
                </a:solidFill>
              </a:rPr>
              <a:t>  tool_wear              ████████████████████  (highest importance)</a:t>
            </a:r>
          </a:p>
          <a:p xmlns:a="http://schemas.openxmlformats.org/drawingml/2006/main">
            <a:r>
              <a:rPr lang="en-US" sz="1500">
                <a:solidFill>
                  <a:srgbClr val="1F2328"/>
                </a:solidFill>
              </a:rPr>
              <a:t>  torque                 ███████████████ (2nd)</a:t>
            </a:r>
          </a:p>
          <a:p xmlns:a="http://schemas.openxmlformats.org/drawingml/2006/main">
            <a:r>
              <a:rPr lang="en-US" sz="1500">
                <a:solidFill>
                  <a:srgbClr val="1F2328"/>
                </a:solidFill>
              </a:rPr>
              <a:t>  rotational_speed       ██████ (3rd)</a:t>
            </a:r>
          </a:p>
          <a:p xmlns:a="http://schemas.openxmlformats.org/drawingml/2006/main">
            <a:r>
              <a:rPr lang="en-US" sz="1500">
                <a:solidFill>
                  <a:srgbClr val="1F2328"/>
                </a:solidFill>
              </a:rPr>
              <a:t>  air_temperature        ██ (4th)</a:t>
            </a:r>
          </a:p>
          <a:p xmlns:a="http://schemas.openxmlformats.org/drawingml/2006/main">
            <a:r>
              <a:rPr lang="en-US" sz="1500">
                <a:solidFill>
                  <a:srgbClr val="1F2328"/>
                </a:solidFill>
              </a:rPr>
              <a:t>  process_temperature    █ (5th)</a:t>
            </a:r>
          </a:p>
          <a:p xmlns:a="http://schemas.openxmlformats.org/drawingml/2006/main">
            <a:r>
              <a:rPr lang="en-US" sz="1500">
                <a:solidFill>
                  <a:srgbClr val="1F2328"/>
                </a:solidFill>
              </a:rPr>
              <a:t/>
            </a:r>
          </a:p>
          <a:p xmlns:a="http://schemas.openxmlformats.org/drawingml/2006/main">
            <a:r>
              <a:rPr lang="en-US" sz="1500">
                <a:solidFill>
                  <a:srgbClr val="1F2328"/>
                </a:solidFill>
              </a:rPr>
              <a:t>  tool_wear and torque together account for the majority of model decision weight.</a:t>
            </a:r>
          </a:p>
        </p:txBody>
      </p:sp>
      <p:sp>
        <p:nvSpPr>
          <p:cNvPr id="100048" name="Local"/>
          <p:cNvSpPr txBox="1"/>
          <p:nvPr/>
        </p:nvSpPr>
        <p:spPr>
          <a:xfrm xmlns:a="http://schemas.openxmlformats.org/drawingml/2006/main">
            <a:off x="6120000" y="1152000"/>
            <a:ext cx="5220000" cy="3240000"/>
          </a:xfrm>
          <a:prstGeom xmlns:a="http://schemas.openxmlformats.org/drawingml/2006/main" prst="rect">
            <a:avLst/>
          </a:prstGeom>
          <a:solidFill xmlns:a="http://schemas.openxmlformats.org/drawingml/2006/main">
            <a:srgbClr val="F0FFF0"/>
          </a:solidFill>
        </p:spPr>
        <p:txBody>
          <a:bodyPr xmlns:a="http://schemas.openxmlformats.org/drawingml/2006/main"/>
          <a:lstStyle xmlns:a="http://schemas.openxmlformats.org/drawingml/2006/main"/>
          <a:p xmlns:a="http://schemas.openxmlformats.org/drawingml/2006/main">
            <a:r>
              <a:rPr lang="en-US" sz="1500">
                <a:solidFill>
                  <a:srgbClr val="1F2328"/>
                </a:solidFill>
              </a:rPr>
              <a:t>Local Attribution (per-prediction)</a:t>
            </a:r>
          </a:p>
          <a:p xmlns:a="http://schemas.openxmlformats.org/drawingml/2006/main">
            <a:r>
              <a:rPr lang="en-US" sz="1500">
                <a:solidFill>
                  <a:srgbClr val="1F2328"/>
                </a:solidFill>
              </a:rPr>
              <a:t/>
            </a:r>
          </a:p>
          <a:p xmlns:a="http://schemas.openxmlformats.org/drawingml/2006/main">
            <a:r>
              <a:rPr lang="en-US" sz="1500">
                <a:solidFill>
                  <a:srgbClr val="1F2328"/>
                </a:solidFill>
              </a:rPr>
              <a:t>  For each incoming record, SHAP computes the exact directional</a:t>
            </a:r>
          </a:p>
          <a:p xmlns:a="http://schemas.openxmlformats.org/drawingml/2006/main">
            <a:r>
              <a:rPr lang="en-US" sz="1500">
                <a:solidFill>
                  <a:srgbClr val="1F2328"/>
                </a:solidFill>
              </a:rPr>
              <a:t>  contribution of each feature to the probability shift from baseline.</a:t>
            </a:r>
          </a:p>
          <a:p xmlns:a="http://schemas.openxmlformats.org/drawingml/2006/main">
            <a:r>
              <a:rPr lang="en-US" sz="1500">
                <a:solidFill>
                  <a:srgbClr val="1F2328"/>
                </a:solidFill>
              </a:rPr>
              <a:t/>
            </a:r>
          </a:p>
          <a:p xmlns:a="http://schemas.openxmlformats.org/drawingml/2006/main">
            <a:r>
              <a:rPr lang="en-US" sz="1500">
                <a:solidFill>
                  <a:srgbClr val="1F2328"/>
                </a:solidFill>
              </a:rPr>
              <a:t>  Example — Batch 2024-001:</a:t>
            </a:r>
          </a:p>
          <a:p xmlns:a="http://schemas.openxmlformats.org/drawingml/2006/main">
            <a:r>
              <a:rPr lang="en-US" sz="1500">
                <a:solidFill>
                  <a:srgbClr val="1F2328"/>
                </a:solidFill>
              </a:rPr>
              <a:t>    tool_wear = 218 min  --&gt;  +0.47 defect probability</a:t>
            </a:r>
          </a:p>
          <a:p xmlns:a="http://schemas.openxmlformats.org/drawingml/2006/main">
            <a:r>
              <a:rPr lang="en-US" sz="1500">
                <a:solidFill>
                  <a:srgbClr val="1F2328"/>
                </a:solidFill>
              </a:rPr>
              <a:t>    torque    = 64.5 Nm  --&gt;  +0.29 defect probability</a:t>
            </a:r>
          </a:p>
          <a:p xmlns:a="http://schemas.openxmlformats.org/drawingml/2006/main">
            <a:r>
              <a:rPr lang="en-US" sz="1500">
                <a:solidFill>
                  <a:srgbClr val="1F2328"/>
                </a:solidFill>
              </a:rPr>
              <a:t>    rot_speed = 1395 rpm --&gt;  -0.04 defect probability</a:t>
            </a:r>
          </a:p>
          <a:p xmlns:a="http://schemas.openxmlformats.org/drawingml/2006/main">
            <a:r>
              <a:rPr lang="en-US" sz="1500">
                <a:solidFill>
                  <a:srgbClr val="1F2328"/>
                </a:solidFill>
              </a:rPr>
              <a:t/>
            </a:r>
          </a:p>
          <a:p xmlns:a="http://schemas.openxmlformats.org/drawingml/2006/main">
            <a:r>
              <a:rPr lang="en-US" sz="1500">
                <a:solidFill>
                  <a:srgbClr val="1F2328"/>
                </a:solidFill>
              </a:rPr>
              <a:t>  This tells the engineer EXACTLY which parameter crossed the risk threshold.</a:t>
            </a:r>
          </a:p>
        </p:txBody>
      </p:sp>
      <p:sp>
        <p:nvSpPr>
          <p:cNvPr id="100049" name="Caution"/>
          <p:cNvSpPr txBox="1"/>
          <p:nvPr/>
        </p:nvSpPr>
        <p:spPr>
          <a:xfrm xmlns:a="http://schemas.openxmlformats.org/drawingml/2006/main">
            <a:off x="540000" y="4680000"/>
            <a:ext cx="10800000" cy="64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7C5CD8"/>
                </a:solidFill>
              </a:rPr>
              <a:t>Important: SHAP measures association, not causation. The dashboard uses language: 'associated with elevated defect risk' — never 'caused by'.</a:t>
            </a:r>
          </a:p>
        </p:txBody>
      </p:sp>
      <p:sp>
        <p:nvSpPr>
          <p:cNvPr id="100050" name="Source"/>
          <p:cNvSpPr txBox="1"/>
          <p:nvPr/>
        </p:nvSpPr>
        <p:spPr>
          <a:xfrm xmlns:a="http://schemas.openxmlformats.org/drawingml/2006/main">
            <a:off x="540000" y="558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57606A"/>
                </a:solidFill>
              </a:rPr>
              <a:t>Source: ml/evaluation/global_feature_importance.json  |  ml/explainability/shap_analysis.py</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1"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08</a:t>
            </a:r>
          </a:p>
        </p:txBody>
      </p:sp>
      <p:sp>
        <p:nvSpPr>
          <p:cNvPr id="100052"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052FAD"/>
                </a:solidFill>
              </a:rPr>
              <a:t>RAG Architecture — 3-Tier Knowledge Base</a:t>
            </a:r>
          </a:p>
        </p:txBody>
      </p:sp>
      <p:sp>
        <p:nvSpPr>
          <p:cNvPr id="100053" name="Tier1"/>
          <p:cNvSpPr txBox="1"/>
          <p:nvPr/>
        </p:nvSpPr>
        <p:spPr>
          <a:xfrm xmlns:a="http://schemas.openxmlformats.org/drawingml/2006/main">
            <a:off x="540000" y="1152000"/>
            <a:ext cx="10800000" cy="1008000"/>
          </a:xfrm>
          <a:prstGeom xmlns:a="http://schemas.openxmlformats.org/drawingml/2006/main" prst="rect">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a:r>
              <a:rPr lang="en-US" sz="1500">
                <a:solidFill>
                  <a:srgbClr val="FFFFFF"/>
                </a:solidFill>
              </a:rPr>
              <a:t>Tier 1  --  International Technical Standard</a:t>
            </a:r>
          </a:p>
          <a:p xmlns:a="http://schemas.openxmlformats.org/drawingml/2006/main">
            <a:r>
              <a:rPr lang="en-US" sz="1500">
                <a:solidFill>
                  <a:srgbClr val="FFFFFF"/>
                </a:solidFill>
              </a:rPr>
              <a:t>  iso_13374_condition_monitoring.md</a:t>
            </a:r>
          </a:p>
          <a:p xmlns:a="http://schemas.openxmlformats.org/drawingml/2006/main">
            <a:r>
              <a:rPr lang="en-US" sz="1500">
                <a:solidFill>
                  <a:srgbClr val="FFFFFF"/>
                </a:solidFill>
              </a:rPr>
              <a:t>  Condition monitoring, diagnostic system architectures, human supervisory mandate</a:t>
            </a:r>
          </a:p>
          <a:p xmlns:a="http://schemas.openxmlformats.org/drawingml/2006/main">
            <a:r>
              <a:rPr lang="en-US" sz="1500">
                <a:solidFill>
                  <a:srgbClr val="FFFFFF"/>
                </a:solidFill>
              </a:rPr>
              <a:t>  Source: Public standard excerpt (clearly attributed)</a:t>
            </a:r>
          </a:p>
        </p:txBody>
      </p:sp>
      <p:sp>
        <p:nvSpPr>
          <p:cNvPr id="100054" name="Tier2"/>
          <p:cNvSpPr txBox="1"/>
          <p:nvPr/>
        </p:nvSpPr>
        <p:spPr>
          <a:xfrm xmlns:a="http://schemas.openxmlformats.org/drawingml/2006/main">
            <a:off x="540000" y="2268000"/>
            <a:ext cx="10800000" cy="1008000"/>
          </a:xfrm>
          <a:prstGeom xmlns:a="http://schemas.openxmlformats.org/drawingml/2006/main" prst="rect">
            <a:avLst/>
          </a:prstGeom>
          <a:solidFill xmlns:a="http://schemas.openxmlformats.org/drawingml/2006/main">
            <a:srgbClr val="2E75B6"/>
          </a:solidFill>
        </p:spPr>
        <p:txBody>
          <a:bodyPr xmlns:a="http://schemas.openxmlformats.org/drawingml/2006/main"/>
          <a:lstStyle xmlns:a="http://schemas.openxmlformats.org/drawingml/2006/main"/>
          <a:p xmlns:a="http://schemas.openxmlformats.org/drawingml/2006/main">
            <a:r>
              <a:rPr lang="en-US" sz="1500">
                <a:solidFill>
                  <a:srgbClr val="FFFFFF"/>
                </a:solidFill>
              </a:rPr>
              <a:t>Tier 2  --  Industrial Technical Manual</a:t>
            </a:r>
          </a:p>
          <a:p xmlns:a="http://schemas.openxmlformats.org/drawingml/2006/main">
            <a:r>
              <a:rPr lang="en-US" sz="1500">
                <a:solidFill>
                  <a:srgbClr val="FFFFFF"/>
                </a:solidFill>
              </a:rPr>
              <a:t>  tool_wear_thermal_compensation_guide.md</a:t>
            </a:r>
          </a:p>
          <a:p xmlns:a="http://schemas.openxmlformats.org/drawingml/2006/main">
            <a:r>
              <a:rPr lang="en-US" sz="1500">
                <a:solidFill>
                  <a:srgbClr val="FFFFFF"/>
                </a:solidFill>
              </a:rPr>
              <a:t>  Cutting tool flank wear dynamics, thermal dissipation balance, coolant guidance</a:t>
            </a:r>
          </a:p>
          <a:p xmlns:a="http://schemas.openxmlformats.org/drawingml/2006/main">
            <a:r>
              <a:rPr lang="en-US" sz="1500">
                <a:solidFill>
                  <a:srgbClr val="FFFFFF"/>
                </a:solidFill>
              </a:rPr>
              <a:t>  Source: Publicly available industrial technical guidance</a:t>
            </a:r>
          </a:p>
        </p:txBody>
      </p:sp>
      <p:sp>
        <p:nvSpPr>
          <p:cNvPr id="100055" name="Tier3"/>
          <p:cNvSpPr txBox="1"/>
          <p:nvPr/>
        </p:nvSpPr>
        <p:spPr>
          <a:xfrm xmlns:a="http://schemas.openxmlformats.org/drawingml/2006/main">
            <a:off x="540000" y="3384000"/>
            <a:ext cx="10800000" cy="1008000"/>
          </a:xfrm>
          <a:prstGeom xmlns:a="http://schemas.openxmlformats.org/drawingml/2006/main" prst="rect">
            <a:avLst/>
          </a:prstGeom>
          <a:solidFill xmlns:a="http://schemas.openxmlformats.org/drawingml/2006/main">
            <a:srgbClr val="E2EFDA"/>
          </a:solidFill>
        </p:spPr>
        <p:txBody>
          <a:bodyPr xmlns:a="http://schemas.openxmlformats.org/drawingml/2006/main"/>
          <a:lstStyle xmlns:a="http://schemas.openxmlformats.org/drawingml/2006/main"/>
          <a:p xmlns:a="http://schemas.openxmlformats.org/drawingml/2006/main">
            <a:r>
              <a:rPr lang="en-US" sz="1500">
                <a:solidFill>
                  <a:srgbClr val="1F2328"/>
                </a:solidFill>
              </a:rPr>
              <a:t>Tier 3  --  Project-Generated Demonstration Knowledge</a:t>
            </a:r>
          </a:p>
          <a:p xmlns:a="http://schemas.openxmlformats.org/drawingml/2006/main">
            <a:r>
              <a:rPr lang="en-US" sz="1500">
                <a:solidFill>
                  <a:srgbClr val="1F2328"/>
                </a:solidFill>
              </a:rPr>
              <a:t>  demo_operating_procedures.md</a:t>
            </a:r>
          </a:p>
          <a:p xmlns:a="http://schemas.openxmlformats.org/drawingml/2006/main">
            <a:r>
              <a:rPr lang="en-US" sz="1500">
                <a:solidFill>
                  <a:srgbClr val="1F2328"/>
                </a:solidFill>
              </a:rPr>
              <a:t>  CNC parameter operating envelopes, incident response protocols</a:t>
            </a:r>
          </a:p>
          <a:p xmlns:a="http://schemas.openxmlformats.org/drawingml/2006/main">
            <a:r>
              <a:rPr lang="en-US" sz="1500">
                <a:solidFill>
                  <a:srgbClr val="1F2328"/>
                </a:solidFill>
              </a:rPr>
              <a:t>  Label: 'Project-generated demonstration knowledge' -- never presented as an official standard</a:t>
            </a:r>
          </a:p>
        </p:txBody>
      </p:sp>
      <p:sp>
        <p:nvSpPr>
          <p:cNvPr id="100056" name="Pipeline"/>
          <p:cNvSpPr txBox="1"/>
          <p:nvPr/>
        </p:nvSpPr>
        <p:spPr>
          <a:xfrm xmlns:a="http://schemas.openxmlformats.org/drawingml/2006/main">
            <a:off x="540000" y="4536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7C5CD8"/>
                </a:solidFill>
              </a:rPr>
              <a:t>Ingestion --&gt; Chunking (600 char / 100 overlap) --&gt; Default Embedding --&gt; ChromaDB (12 chunks) --&gt; Cosine Similarity Retrieval --&gt; Agent Context</a:t>
            </a:r>
          </a:p>
        </p:txBody>
      </p:sp>
      <p:sp>
        <p:nvSpPr>
          <p:cNvPr id="100057" name="Critical"/>
          <p:cNvSpPr txBox="1"/>
          <p:nvPr/>
        </p:nvSpPr>
        <p:spPr>
          <a:xfrm xmlns:a="http://schemas.openxmlformats.org/drawingml/2006/main">
            <a:off x="540000" y="5220000"/>
            <a:ext cx="10800000" cy="720000"/>
          </a:xfrm>
          <a:prstGeom xmlns:a="http://schemas.openxmlformats.org/drawingml/2006/main" prst="rect">
            <a:avLst/>
          </a:prstGeom>
          <a:solidFill xmlns:a="http://schemas.openxmlformats.org/drawingml/2006/main">
            <a:srgbClr val="FFF8F0"/>
          </a:solidFill>
        </p:spPr>
        <p:txBody>
          <a:bodyPr xmlns:a="http://schemas.openxmlformats.org/drawingml/2006/main"/>
          <a:lstStyle xmlns:a="http://schemas.openxmlformats.org/drawingml/2006/main"/>
          <a:p xmlns:a="http://schemas.openxmlformats.org/drawingml/2006/main">
            <a:r>
              <a:rPr lang="en-US" sz="1400">
                <a:solidFill>
                  <a:srgbClr val="1F2328"/>
                </a:solidFill>
              </a:rPr>
              <a:t>Critical: RAG combines with ML evidence -- it does not replace it. The system requires both ML evidence AND retrieved documentation before generating a recommendation.</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8"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09</a:t>
            </a:r>
          </a:p>
        </p:txBody>
      </p:sp>
      <p:sp>
        <p:nvSpPr>
          <p:cNvPr id="100059"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The 4-Agent Pipeline</a:t>
            </a:r>
          </a:p>
        </p:txBody>
      </p:sp>
      <p:sp>
        <p:nvSpPr>
          <p:cNvPr id="100060" name="Agent1"/>
          <p:cNvSpPr txBox="1"/>
          <p:nvPr/>
        </p:nvSpPr>
        <p:spPr>
          <a:xfrm xmlns:a="http://schemas.openxmlformats.org/drawingml/2006/main">
            <a:off x="540000" y="1152000"/>
            <a:ext cx="5220000" cy="1368000"/>
          </a:xfrm>
          <a:prstGeom xmlns:a="http://schemas.openxmlformats.org/drawingml/2006/main" prst="rect">
            <a:avLst/>
          </a:prstGeom>
          <a:solidFill xmlns:a="http://schemas.openxmlformats.org/drawingml/2006/main">
            <a:srgbClr val="052FAD"/>
          </a:solidFill>
        </p:spPr>
        <p:txBody>
          <a:bodyPr xmlns:a="http://schemas.openxmlformats.org/drawingml/2006/main"/>
          <a:lstStyle xmlns:a="http://schemas.openxmlformats.org/drawingml/2006/main"/>
          <a:p xmlns:a="http://schemas.openxmlformats.org/drawingml/2006/main">
            <a:r>
              <a:rPr lang="en-US" sz="1400">
                <a:solidFill>
                  <a:srgbClr val="FFFFFF"/>
                </a:solidFill>
              </a:rPr>
              <a:t>Agent 1: Process Monitoring</a:t>
            </a:r>
          </a:p>
          <a:p xmlns:a="http://schemas.openxmlformats.org/drawingml/2006/main">
            <a:r>
              <a:rPr lang="en-US" sz="1400">
                <a:solidFill>
                  <a:srgbClr val="FFFFFF"/>
                </a:solidFill>
              </a:rPr>
              <a:t>  Input: Raw {param: value} JSON</a:t>
            </a:r>
          </a:p>
          <a:p xmlns:a="http://schemas.openxmlformats.org/drawingml/2006/main">
            <a:r>
              <a:rPr lang="en-US" sz="1400">
                <a:solidFill>
                  <a:srgbClr val="FFFFFF"/>
                </a:solidFill>
              </a:rPr>
              <a:t>  Validates physical bounds, detects IQR/IF anomalies</a:t>
            </a:r>
          </a:p>
          <a:p xmlns:a="http://schemas.openxmlformats.org/drawingml/2006/main">
            <a:r>
              <a:rPr lang="en-US" sz="1400">
                <a:solidFill>
                  <a:srgbClr val="FFFFFF"/>
                </a:solidFill>
              </a:rPr>
              <a:t>  Output: ProcessMonitoringOutput (status, anomaly_detection, violations)</a:t>
            </a:r>
          </a:p>
        </p:txBody>
      </p:sp>
      <p:sp>
        <p:nvSpPr>
          <p:cNvPr id="100061" name="Agent2"/>
          <p:cNvSpPr txBox="1"/>
          <p:nvPr/>
        </p:nvSpPr>
        <p:spPr>
          <a:xfrm xmlns:a="http://schemas.openxmlformats.org/drawingml/2006/main">
            <a:off x="6120000" y="1152000"/>
            <a:ext cx="5220000" cy="1368000"/>
          </a:xfrm>
          <a:prstGeom xmlns:a="http://schemas.openxmlformats.org/drawingml/2006/main" prst="rect">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a:r>
              <a:rPr lang="en-US" sz="1400">
                <a:solidFill>
                  <a:srgbClr val="FFFFFF"/>
                </a:solidFill>
              </a:rPr>
              <a:t>Agent 2: Quality Analysis + RCA</a:t>
            </a:r>
          </a:p>
          <a:p xmlns:a="http://schemas.openxmlformats.org/drawingml/2006/main">
            <a:r>
              <a:rPr lang="en-US" sz="1400">
                <a:solidFill>
                  <a:srgbClr val="FFFFFF"/>
                </a:solidFill>
              </a:rPr>
              <a:t>  Input: Monitoring output</a:t>
            </a:r>
          </a:p>
          <a:p xmlns:a="http://schemas.openxmlformats.org/drawingml/2006/main">
            <a:r>
              <a:rPr lang="en-US" sz="1400">
                <a:solidFill>
                  <a:srgbClr val="FFFFFF"/>
                </a:solidFill>
              </a:rPr>
              <a:t>  Statistical deviation scoring, correlation analysis</a:t>
            </a:r>
          </a:p>
          <a:p xmlns:a="http://schemas.openxmlformats.org/drawingml/2006/main">
            <a:r>
              <a:rPr lang="en-US" sz="1400">
                <a:solidFill>
                  <a:srgbClr val="FFFFFF"/>
                </a:solidFill>
              </a:rPr>
              <a:t>  RAG retrieval for supporting documentation</a:t>
            </a:r>
          </a:p>
          <a:p xmlns:a="http://schemas.openxmlformats.org/drawingml/2006/main">
            <a:r>
              <a:rPr lang="en-US" sz="1400">
                <a:solidFill>
                  <a:srgbClr val="FFFFFF"/>
                </a:solidFill>
              </a:rPr>
              <a:t>  Output: QualityAnalysisOutput (factors, rag_evidence, narrative)</a:t>
            </a:r>
          </a:p>
        </p:txBody>
      </p:sp>
      <p:sp>
        <p:nvSpPr>
          <p:cNvPr id="100062" name="Agent3"/>
          <p:cNvSpPr txBox="1"/>
          <p:nvPr/>
        </p:nvSpPr>
        <p:spPr>
          <a:xfrm xmlns:a="http://schemas.openxmlformats.org/drawingml/2006/main">
            <a:off x="540000" y="2628000"/>
            <a:ext cx="5220000" cy="1368000"/>
          </a:xfrm>
          <a:prstGeom xmlns:a="http://schemas.openxmlformats.org/drawingml/2006/main" prst="rect">
            <a:avLst/>
          </a:prstGeom>
          <a:solidFill xmlns:a="http://schemas.openxmlformats.org/drawingml/2006/main">
            <a:srgbClr val="2E75B6"/>
          </a:solidFill>
        </p:spPr>
        <p:txBody>
          <a:bodyPr xmlns:a="http://schemas.openxmlformats.org/drawingml/2006/main"/>
          <a:lstStyle xmlns:a="http://schemas.openxmlformats.org/drawingml/2006/main"/>
          <a:p xmlns:a="http://schemas.openxmlformats.org/drawingml/2006/main">
            <a:r>
              <a:rPr lang="en-US" sz="1400">
                <a:solidFill>
                  <a:srgbClr val="FFFFFF"/>
                </a:solidFill>
              </a:rPr>
              <a:t>Agent 3: Defect Prediction</a:t>
            </a:r>
          </a:p>
          <a:p xmlns:a="http://schemas.openxmlformats.org/drawingml/2006/main">
            <a:r>
              <a:rPr lang="en-US" sz="1400">
                <a:solidFill>
                  <a:srgbClr val="FFFFFF"/>
                </a:solidFill>
              </a:rPr>
              <a:t>  Input: Quality analysis report</a:t>
            </a:r>
          </a:p>
          <a:p xmlns:a="http://schemas.openxmlformats.org/drawingml/2006/main">
            <a:r>
              <a:rPr lang="en-US" sz="1400">
                <a:solidFill>
                  <a:srgbClr val="FFFFFF"/>
                </a:solidFill>
              </a:rPr>
              <a:t>  XGBoost v1.0 inference on scaled features</a:t>
            </a:r>
          </a:p>
          <a:p xmlns:a="http://schemas.openxmlformats.org/drawingml/2006/main">
            <a:r>
              <a:rPr lang="en-US" sz="1400">
                <a:solidFill>
                  <a:srgbClr val="FFFFFF"/>
                </a:solidFill>
              </a:rPr>
              <a:t>  Local SHAP attribution per record</a:t>
            </a:r>
          </a:p>
          <a:p xmlns:a="http://schemas.openxmlformats.org/drawingml/2006/main">
            <a:r>
              <a:rPr lang="en-US" sz="1400">
                <a:solidFill>
                  <a:srgbClr val="FFFFFF"/>
                </a:solidFill>
              </a:rPr>
              <a:t>  Output: DefectPredictionOutput (class, probability, risk, shap)</a:t>
            </a:r>
          </a:p>
        </p:txBody>
      </p:sp>
      <p:sp>
        <p:nvSpPr>
          <p:cNvPr id="100063" name="Agent4"/>
          <p:cNvSpPr txBox="1"/>
          <p:nvPr/>
        </p:nvSpPr>
        <p:spPr>
          <a:xfrm xmlns:a="http://schemas.openxmlformats.org/drawingml/2006/main">
            <a:off x="6120000" y="2628000"/>
            <a:ext cx="5220000" cy="1368000"/>
          </a:xfrm>
          <a:prstGeom xmlns:a="http://schemas.openxmlformats.org/drawingml/2006/main" prst="rect">
            <a:avLst/>
          </a:prstGeom>
          <a:solidFill xmlns:a="http://schemas.openxmlformats.org/drawingml/2006/main">
            <a:srgbClr val="375623"/>
          </a:solidFill>
        </p:spPr>
        <p:txBody>
          <a:bodyPr xmlns:a="http://schemas.openxmlformats.org/drawingml/2006/main"/>
          <a:lstStyle xmlns:a="http://schemas.openxmlformats.org/drawingml/2006/main"/>
          <a:p xmlns:a="http://schemas.openxmlformats.org/drawingml/2006/main">
            <a:r>
              <a:rPr lang="en-US" sz="1400">
                <a:solidFill>
                  <a:srgbClr val="FFFFFF"/>
                </a:solidFill>
              </a:rPr>
              <a:t>Agent 4: Process Optimization</a:t>
            </a:r>
          </a:p>
          <a:p xmlns:a="http://schemas.openxmlformats.org/drawingml/2006/main">
            <a:r>
              <a:rPr lang="en-US" sz="1400">
                <a:solidFill>
                  <a:srgbClr val="FFFFFF"/>
                </a:solidFill>
              </a:rPr>
              <a:t>  Input: Defect prediction output</a:t>
            </a:r>
          </a:p>
          <a:p xmlns:a="http://schemas.openxmlformats.org/drawingml/2006/main">
            <a:r>
              <a:rPr lang="en-US" sz="1400">
                <a:solidFill>
                  <a:srgbClr val="FFFFFF"/>
                </a:solidFill>
              </a:rPr>
              <a:t>  3 traceable recommendation methods:</a:t>
            </a:r>
          </a:p>
          <a:p xmlns:a="http://schemas.openxmlformats.org/drawingml/2006/main">
            <a:r>
              <a:rPr lang="en-US" sz="1400">
                <a:solidFill>
                  <a:srgbClr val="FFFFFF"/>
                </a:solidFill>
              </a:rPr>
              <a:t>  (a) Rule-based operating ranges</a:t>
            </a:r>
          </a:p>
          <a:p xmlns:a="http://schemas.openxmlformats.org/drawingml/2006/main">
            <a:r>
              <a:rPr lang="en-US" sz="1400">
                <a:solidFill>
                  <a:srgbClr val="FFFFFF"/>
                </a:solidFill>
              </a:rPr>
              <a:t>  (b) Historical low-defect comparison</a:t>
            </a:r>
          </a:p>
          <a:p xmlns:a="http://schemas.openxmlformats.org/drawingml/2006/main">
            <a:r>
              <a:rPr lang="en-US" sz="1400">
                <a:solidFill>
                  <a:srgbClr val="FFFFFF"/>
                </a:solidFill>
              </a:rPr>
              <a:t>  (c) What-if model inference (probability delta)</a:t>
            </a:r>
          </a:p>
          <a:p xmlns:a="http://schemas.openxmlformats.org/drawingml/2006/main">
            <a:r>
              <a:rPr lang="en-US" sz="1400">
                <a:solidFill>
                  <a:srgbClr val="FFFFFF"/>
                </a:solidFill>
              </a:rPr>
              <a:t>  Output: Recommendations (AWAITING_REVIEW)</a:t>
            </a:r>
          </a:p>
        </p:txBody>
      </p:sp>
      <p:sp>
        <p:nvSpPr>
          <p:cNvPr id="100064" name="Note"/>
          <p:cNvSpPr txBox="1"/>
          <p:nvPr/>
        </p:nvSpPr>
        <p:spPr>
          <a:xfrm xmlns:a="http://schemas.openxmlformats.org/drawingml/2006/main">
            <a:off x="540000" y="414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300">
                <a:solidFill>
                  <a:srgbClr val="7C5CD8"/>
                </a:solidFill>
              </a:rPr>
              <a:t>All inter-agent communication uses structured JSON -- never free text. Root-Cause Analysis is a capability inside Agent 2, not a 5th agent.</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5"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10</a:t>
            </a:r>
          </a:p>
        </p:txBody>
      </p:sp>
      <p:sp>
        <p:nvSpPr>
          <p:cNvPr id="100066"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IBM Granite — Role and Boundaries</a:t>
            </a:r>
          </a:p>
        </p:txBody>
      </p:sp>
      <p:sp>
        <p:nvSpPr>
          <p:cNvPr id="100067" name="ModelInfo"/>
          <p:cNvSpPr txBox="1"/>
          <p:nvPr/>
        </p:nvSpPr>
        <p:spPr>
          <a:xfrm xmlns:a="http://schemas.openxmlformats.org/drawingml/2006/main">
            <a:off x="540000" y="1152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7C5CD8"/>
                </a:solidFill>
              </a:rPr>
              <a:t>Model: IBM Granite Guardian 8B  |  Model ID: ibm/granite-guardian-8b  |  Endpoint: https://us-south.ml.cloud.ibm.com</a:t>
            </a:r>
          </a:p>
        </p:txBody>
      </p:sp>
      <p:sp>
        <p:nvSpPr>
          <p:cNvPr id="100068" name="DoCol"/>
          <p:cNvSpPr txBox="1"/>
          <p:nvPr/>
        </p:nvSpPr>
        <p:spPr>
          <a:xfrm xmlns:a="http://schemas.openxmlformats.org/drawingml/2006/main">
            <a:off x="540000" y="1656000"/>
            <a:ext cx="5220000" cy="3600000"/>
          </a:xfrm>
          <a:prstGeom xmlns:a="http://schemas.openxmlformats.org/drawingml/2006/main" prst="rect">
            <a:avLst/>
          </a:prstGeom>
          <a:solidFill xmlns:a="http://schemas.openxmlformats.org/drawingml/2006/main">
            <a:srgbClr val="375623"/>
          </a:solidFill>
        </p:spPr>
        <p:txBody>
          <a:bodyPr xmlns:a="http://schemas.openxmlformats.org/drawingml/2006/main"/>
          <a:lstStyle xmlns:a="http://schemas.openxmlformats.org/drawingml/2006/main"/>
          <a:p xmlns:a="http://schemas.openxmlformats.org/drawingml/2006/main">
            <a:r>
              <a:rPr lang="en-US" sz="1500">
                <a:solidFill>
                  <a:srgbClr val="FFFFFF"/>
                </a:solidFill>
              </a:rPr>
              <a:t>Granite DOES:</a:t>
            </a:r>
          </a:p>
          <a:p xmlns:a="http://schemas.openxmlformats.org/drawingml/2006/main">
            <a:r>
              <a:rPr lang="en-US" sz="1500">
                <a:solidFill>
                  <a:srgbClr val="FFFFFF"/>
                </a:solidFill>
              </a:rPr>
              <a:t/>
            </a:r>
          </a:p>
          <a:p xmlns:a="http://schemas.openxmlformats.org/drawingml/2006/main">
            <a:r>
              <a:rPr lang="en-US" sz="1500">
                <a:solidFill>
                  <a:srgbClr val="FFFFFF"/>
                </a:solidFill>
              </a:rPr>
              <a:t>  Natural-language narration of ML results</a:t>
            </a:r>
          </a:p>
          <a:p xmlns:a="http://schemas.openxmlformats.org/drawingml/2006/main">
            <a:r>
              <a:rPr lang="en-US" sz="1500">
                <a:solidFill>
                  <a:srgbClr val="FFFFFF"/>
                </a:solidFill>
              </a:rPr>
              <a:t>  RAG-based knowledge synthesis</a:t>
            </a:r>
          </a:p>
          <a:p xmlns:a="http://schemas.openxmlformats.org/drawingml/2006/main">
            <a:r>
              <a:rPr lang="en-US" sz="1500">
                <a:solidFill>
                  <a:srgbClr val="FFFFFF"/>
                </a:solidFill>
              </a:rPr>
              <a:t>  Explanation generation (grounded in SHAP + anomaly data)</a:t>
            </a:r>
          </a:p>
          <a:p xmlns:a="http://schemas.openxmlformats.org/drawingml/2006/main">
            <a:r>
              <a:rPr lang="en-US" sz="1500">
                <a:solidFill>
                  <a:srgbClr val="FFFFFF"/>
                </a:solidFill>
              </a:rPr>
              <a:t>  Quality incident report generation</a:t>
            </a:r>
          </a:p>
          <a:p xmlns:a="http://schemas.openxmlformats.org/drawingml/2006/main">
            <a:r>
              <a:rPr lang="en-US" sz="1500">
                <a:solidFill>
                  <a:srgbClr val="FFFFFF"/>
                </a:solidFill>
              </a:rPr>
              <a:t>  Conversational assistant (AI Chat tab)</a:t>
            </a:r>
          </a:p>
          <a:p xmlns:a="http://schemas.openxmlformats.org/drawingml/2006/main">
            <a:r>
              <a:rPr lang="en-US" sz="1500">
                <a:solidFill>
                  <a:srgbClr val="FFFFFF"/>
                </a:solidFill>
              </a:rPr>
              <a:t>  Translating structured JSON context into readable summaries</a:t>
            </a:r>
          </a:p>
          <a:p xmlns:a="http://schemas.openxmlformats.org/drawingml/2006/main">
            <a:r>
              <a:rPr lang="en-US" sz="1500">
                <a:solidFill>
                  <a:srgbClr val="FFFFFF"/>
                </a:solidFill>
              </a:rPr>
              <a:t/>
            </a:r>
          </a:p>
          <a:p xmlns:a="http://schemas.openxmlformats.org/drawingml/2006/main">
            <a:r>
              <a:rPr lang="en-US" sz="1500">
                <a:solidFill>
                  <a:srgbClr val="FFFFFF"/>
                </a:solidFill>
              </a:rPr>
              <a:t>  Temperature: 0.2 (factual, low-creativity mode)</a:t>
            </a:r>
          </a:p>
          <a:p xmlns:a="http://schemas.openxmlformats.org/drawingml/2006/main">
            <a:r>
              <a:rPr lang="en-US" sz="1500">
                <a:solidFill>
                  <a:srgbClr val="FFFFFF"/>
                </a:solidFill>
              </a:rPr>
              <a:t>  Max tokens: 400</a:t>
            </a:r>
          </a:p>
        </p:txBody>
      </p:sp>
      <p:sp>
        <p:nvSpPr>
          <p:cNvPr id="100069" name="DontCol"/>
          <p:cNvSpPr txBox="1"/>
          <p:nvPr/>
        </p:nvSpPr>
        <p:spPr>
          <a:xfrm xmlns:a="http://schemas.openxmlformats.org/drawingml/2006/main">
            <a:off x="6120000" y="1656000"/>
            <a:ext cx="5220000" cy="3600000"/>
          </a:xfrm>
          <a:prstGeom xmlns:a="http://schemas.openxmlformats.org/drawingml/2006/main" prst="rect">
            <a:avLst/>
          </a:prstGeom>
          <a:solidFill xmlns:a="http://schemas.openxmlformats.org/drawingml/2006/main">
            <a:srgbClr val="FFF0F0"/>
          </a:solidFill>
        </p:spPr>
        <p:txBody>
          <a:bodyPr xmlns:a="http://schemas.openxmlformats.org/drawingml/2006/main"/>
          <a:lstStyle xmlns:a="http://schemas.openxmlformats.org/drawingml/2006/main"/>
          <a:p xmlns:a="http://schemas.openxmlformats.org/drawingml/2006/main">
            <a:r>
              <a:rPr lang="en-US" sz="1500">
                <a:solidFill>
                  <a:srgbClr val="1F2328"/>
                </a:solidFill>
              </a:rPr>
              <a:t>Granite DOES NOT:</a:t>
            </a:r>
          </a:p>
          <a:p xmlns:a="http://schemas.openxmlformats.org/drawingml/2006/main">
            <a:r>
              <a:rPr lang="en-US" sz="1500">
                <a:solidFill>
                  <a:srgbClr val="1F2328"/>
                </a:solidFill>
              </a:rPr>
              <a:t/>
            </a:r>
          </a:p>
          <a:p xmlns:a="http://schemas.openxmlformats.org/drawingml/2006/main">
            <a:r>
              <a:rPr lang="en-US" sz="1500">
                <a:solidFill>
                  <a:srgbClr val="1F2328"/>
                </a:solidFill>
              </a:rPr>
              <a:t>  Perform numerical calculations</a:t>
            </a:r>
          </a:p>
          <a:p xmlns:a="http://schemas.openxmlformats.org/drawingml/2006/main">
            <a:r>
              <a:rPr lang="en-US" sz="1500">
                <a:solidFill>
                  <a:srgbClr val="1F2328"/>
                </a:solidFill>
              </a:rPr>
              <a:t>  Run statistical anomaly detection</a:t>
            </a:r>
          </a:p>
          <a:p xmlns:a="http://schemas.openxmlformats.org/drawingml/2006/main">
            <a:r>
              <a:rPr lang="en-US" sz="1500">
                <a:solidFill>
                  <a:srgbClr val="1F2328"/>
                </a:solidFill>
              </a:rPr>
              <a:t>  Generate defect predictions</a:t>
            </a:r>
          </a:p>
          <a:p xmlns:a="http://schemas.openxmlformats.org/drawingml/2006/main">
            <a:r>
              <a:rPr lang="en-US" sz="1500">
                <a:solidFill>
                  <a:srgbClr val="1F2328"/>
                </a:solidFill>
              </a:rPr>
              <a:t>  Invent operating parameter thresholds</a:t>
            </a:r>
          </a:p>
          <a:p xmlns:a="http://schemas.openxmlformats.org/drawingml/2006/main">
            <a:r>
              <a:rPr lang="en-US" sz="1500">
                <a:solidFill>
                  <a:srgbClr val="1F2328"/>
                </a:solidFill>
              </a:rPr>
              <a:t>  Fabricate industrial standards</a:t>
            </a:r>
          </a:p>
          <a:p xmlns:a="http://schemas.openxmlformats.org/drawingml/2006/main">
            <a:r>
              <a:rPr lang="en-US" sz="1500">
                <a:solidFill>
                  <a:srgbClr val="1F2328"/>
                </a:solidFill>
              </a:rPr>
              <a:t>  Claim causation from correlation</a:t>
            </a:r>
          </a:p>
          <a:p xmlns:a="http://schemas.openxmlformats.org/drawingml/2006/main">
            <a:r>
              <a:rPr lang="en-US" sz="1500">
                <a:solidFill>
                  <a:srgbClr val="1F2328"/>
                </a:solidFill>
              </a:rPr>
              <a:t/>
            </a:r>
          </a:p>
          <a:p xmlns:a="http://schemas.openxmlformats.org/drawingml/2006/main">
            <a:r>
              <a:rPr lang="en-US" sz="1500">
                <a:solidFill>
                  <a:srgbClr val="1F2328"/>
                </a:solidFill>
              </a:rPr>
              <a:t>  If context is insufficient:</a:t>
            </a:r>
          </a:p>
          <a:p xmlns:a="http://schemas.openxmlformats.org/drawingml/2006/main">
            <a:r>
              <a:rPr lang="en-US" sz="1500">
                <a:solidFill>
                  <a:srgbClr val="1F2328"/>
                </a:solidFill>
              </a:rPr>
              <a:t>  'Insufficient evidence available from current data'</a:t>
            </a:r>
          </a:p>
          <a:p xmlns:a="http://schemas.openxmlformats.org/drawingml/2006/main">
            <a:r>
              <a:rPr lang="en-US" sz="1500">
                <a:solidFill>
                  <a:srgbClr val="1F2328"/>
                </a:solidFill>
              </a:rPr>
              <a:t/>
            </a:r>
          </a:p>
          <a:p xmlns:a="http://schemas.openxmlformats.org/drawingml/2006/main">
            <a:r>
              <a:rPr lang="en-US" sz="1500">
                <a:solidFill>
                  <a:srgbClr val="1F2328"/>
                </a:solidFill>
              </a:rPr>
              <a:t>  If recommending: always ends with</a:t>
            </a:r>
          </a:p>
          <a:p xmlns:a="http://schemas.openxmlformats.org/drawingml/2006/main">
            <a:r>
              <a:rPr lang="en-US" sz="1500">
                <a:solidFill>
                  <a:srgbClr val="1F2328"/>
                </a:solidFill>
              </a:rPr>
              <a:t>  'Human engineer review required before any process action'</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0"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11</a:t>
            </a:r>
          </a:p>
        </p:txBody>
      </p:sp>
      <p:sp>
        <p:nvSpPr>
          <p:cNvPr id="100071"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300" b="1">
                <a:solidFill>
                  <a:srgbClr val="052FAD"/>
                </a:solidFill>
              </a:rPr>
              <a:t>Demo — Batch 2024-001 Incident Walkthrough</a:t>
            </a:r>
          </a:p>
        </p:txBody>
      </p:sp>
      <p:sp>
        <p:nvSpPr>
          <p:cNvPr id="100072" name="Steps"/>
          <p:cNvSpPr txBox="1"/>
          <p:nvPr/>
        </p:nvSpPr>
        <p:spPr>
          <a:xfrm xmlns:a="http://schemas.openxmlformats.org/drawingml/2006/main">
            <a:off x="540000" y="1152000"/>
            <a:ext cx="10800000" cy="43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a:solidFill>
                  <a:srgbClr val="1F2328"/>
                </a:solidFill>
              </a:rPr>
              <a:t>Step 1  NORMAL       air_temp=300.1K  process_temp=310.0K  rpm=1525  torque=39.2Nm  wear=110min</a:t>
            </a:r>
          </a:p>
          <a:p xmlns:a="http://schemas.openxmlformats.org/drawingml/2006/main">
            <a:r>
              <a:rPr lang="en-US" sz="1400">
                <a:solidFill>
                  <a:srgbClr val="1F2328"/>
                </a:solidFill>
              </a:rPr>
              <a:t>          Result: NORMAL  |  Risk: NORMAL  |  Prob: 0.0%  |  Anomaly: NORMAL  |  Recs: 0</a:t>
            </a:r>
          </a:p>
          <a:p xmlns:a="http://schemas.openxmlformats.org/drawingml/2006/main">
            <a:r>
              <a:rPr lang="en-US" sz="1400">
                <a:solidFill>
                  <a:srgbClr val="1F2328"/>
                </a:solidFill>
              </a:rPr>
              <a:t/>
            </a:r>
          </a:p>
          <a:p xmlns:a="http://schemas.openxmlformats.org/drawingml/2006/main">
            <a:r>
              <a:rPr lang="en-US" sz="1400">
                <a:solidFill>
                  <a:srgbClr val="1F2328"/>
                </a:solidFill>
              </a:rPr>
              <a:t>Step 2  ELEVATED     air_temp=304.8K  rpm=1180  torque=68.5Nm  tool_wear=235min</a:t>
            </a:r>
          </a:p>
          <a:p xmlns:a="http://schemas.openxmlformats.org/drawingml/2006/main">
            <a:r>
              <a:rPr lang="en-US" sz="1400">
                <a:solidFill>
                  <a:srgbClr val="1F2328"/>
                </a:solidFill>
              </a:rPr>
              <a:t>          Result: ELEVATED_RISK  |  Prob: 98.3%  |  Risk: HIGH  |  Anomaly: MEDIUM</a:t>
            </a:r>
          </a:p>
          <a:p xmlns:a="http://schemas.openxmlformats.org/drawingml/2006/main">
            <a:r>
              <a:rPr lang="en-US" sz="1400">
                <a:solidFill>
                  <a:srgbClr val="1F2328"/>
                </a:solidFill>
              </a:rPr>
              <a:t>          Top factors: tool_wear (highest SHAP), torque (2nd SHAP)</a:t>
            </a:r>
          </a:p>
          <a:p xmlns:a="http://schemas.openxmlformats.org/drawingml/2006/main">
            <a:r>
              <a:rPr lang="en-US" sz="1400">
                <a:solidFill>
                  <a:srgbClr val="1F2328"/>
                </a:solidFill>
              </a:rPr>
              <a:t>          Rec: Decrease tool_wear  |  Basis: what_if_model_inference</a:t>
            </a:r>
          </a:p>
          <a:p xmlns:a="http://schemas.openxmlformats.org/drawingml/2006/main">
            <a:r>
              <a:rPr lang="en-US" sz="1400">
                <a:solidFill>
                  <a:srgbClr val="1F2328"/>
                </a:solidFill>
              </a:rPr>
              <a:t/>
            </a:r>
          </a:p>
          <a:p xmlns:a="http://schemas.openxmlformats.org/drawingml/2006/main">
            <a:r>
              <a:rPr lang="en-US" sz="1400">
                <a:solidFill>
                  <a:srgbClr val="1F2328"/>
                </a:solidFill>
              </a:rPr>
              <a:t>Step 3  CRITICAL     torque=75.0Nm  tool_wear=255min</a:t>
            </a:r>
          </a:p>
          <a:p xmlns:a="http://schemas.openxmlformats.org/drawingml/2006/main">
            <a:r>
              <a:rPr lang="en-US" sz="1400">
                <a:solidFill>
                  <a:srgbClr val="1F2328"/>
                </a:solidFill>
              </a:rPr>
              <a:t>          Result: ELEVATED_RISK  |  Prob: 98.7%  |  Risk: HIGH</a:t>
            </a:r>
          </a:p>
          <a:p xmlns:a="http://schemas.openxmlformats.org/drawingml/2006/main">
            <a:r>
              <a:rPr lang="en-US" sz="1400">
                <a:solidFill>
                  <a:srgbClr val="1F2328"/>
                </a:solidFill>
              </a:rPr>
              <a:t>          IQR Violation: torque = 75.0 Nm  [3.07 IQR units above upper bound 52.89 Nm]</a:t>
            </a:r>
          </a:p>
          <a:p xmlns:a="http://schemas.openxmlformats.org/drawingml/2006/main">
            <a:r>
              <a:rPr lang="en-US" sz="1400">
                <a:solidFill>
                  <a:srgbClr val="1F2328"/>
                </a:solidFill>
              </a:rPr>
              <a:t>          Rec: Decrease tool_wear  |  Basis: what_if_model_inference</a:t>
            </a:r>
          </a:p>
          <a:p xmlns:a="http://schemas.openxmlformats.org/drawingml/2006/main">
            <a:r>
              <a:rPr lang="en-US" sz="1400">
                <a:solidFill>
                  <a:srgbClr val="1F2328"/>
                </a:solidFill>
              </a:rPr>
              <a:t>          What-if: tool_wear 218min-&gt;95min reduces prob 99.3%-&gt;51.3%</a:t>
            </a:r>
          </a:p>
          <a:p xmlns:a="http://schemas.openxmlformats.org/drawingml/2006/main">
            <a:r>
              <a:rPr lang="en-US" sz="1400">
                <a:solidFill>
                  <a:srgbClr val="1F2328"/>
                </a:solidFill>
              </a:rPr>
              <a:t/>
            </a:r>
          </a:p>
          <a:p xmlns:a="http://schemas.openxmlformats.org/drawingml/2006/main">
            <a:r>
              <a:rPr lang="en-US" sz="1400">
                <a:solidFill>
                  <a:srgbClr val="1F2328"/>
                </a:solidFill>
              </a:rPr>
              <a:t>Step 4  Engineer reviews recommendation in dashboard  --&gt;  APPROVED / REJECTED</a:t>
            </a:r>
          </a:p>
          <a:p xmlns:a="http://schemas.openxmlformats.org/drawingml/2006/main">
            <a:r>
              <a:rPr lang="en-US" sz="1400">
                <a:solidFill>
                  <a:srgbClr val="1F2328"/>
                </a:solidFill>
              </a:rPr>
              <a:t>Step 5  Granite generates incident report (grounded in structured ML output, labeled SYNTHETIC DATA)</a:t>
            </a:r>
          </a:p>
        </p:txBody>
      </p:sp>
      <p:sp>
        <p:nvSpPr>
          <p:cNvPr id="100073" name="DataNote"/>
          <p:cNvSpPr txBox="1"/>
          <p:nvPr/>
        </p:nvSpPr>
        <p:spPr>
          <a:xfrm xmlns:a="http://schemas.openxmlformats.org/drawingml/2006/main">
            <a:off x="540000" y="57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57606A"/>
                </a:solidFill>
              </a:rPr>
              <a:t>Data source: SIMULATED STREAM -- not a live factory connection. All numbers from actual ML model inference.</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4"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12</a:t>
            </a:r>
          </a:p>
        </p:txBody>
      </p:sp>
      <p:sp>
        <p:nvSpPr>
          <p:cNvPr id="100075"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Dashboard &amp; Human-in-the-Loop</a:t>
            </a:r>
          </a:p>
        </p:txBody>
      </p:sp>
      <p:sp>
        <p:nvSpPr>
          <p:cNvPr id="100076" name="Tabs"/>
          <p:cNvSpPr txBox="1"/>
          <p:nvPr/>
        </p:nvSpPr>
        <p:spPr>
          <a:xfrm xmlns:a="http://schemas.openxmlformats.org/drawingml/2006/main">
            <a:off x="540000" y="1260000"/>
            <a:ext cx="10800000" cy="28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rPr>
              <a:t>Dashboard Tabs:</a:t>
            </a:r>
          </a:p>
          <a:p xmlns:a="http://schemas.openxmlformats.org/drawingml/2006/main">
            <a:r>
              <a:rPr lang="en-US" sz="1500">
                <a:solidFill>
                  <a:srgbClr val="1F2328"/>
                </a:solidFill>
              </a:rPr>
              <a:t>  Overview          Metrics (records, anomalies, defective %, pending reviews) + recent status table</a:t>
            </a:r>
          </a:p>
          <a:p xmlns:a="http://schemas.openxmlformats.org/drawingml/2006/main">
            <a:r>
              <a:rPr lang="en-US" sz="1500">
                <a:solidFill>
                  <a:srgbClr val="1F2328"/>
                </a:solidFill>
              </a:rPr>
              <a:t>  Analyze Record    Submit JSON parameters, run full 4-agent pipeline, view structured result</a:t>
            </a:r>
          </a:p>
          <a:p xmlns:a="http://schemas.openxmlformats.org/drawingml/2006/main">
            <a:r>
              <a:rPr lang="en-US" sz="1500">
                <a:solidFill>
                  <a:srgbClr val="1F2328"/>
                </a:solidFill>
              </a:rPr>
              <a:t>  Predictions       Table of all predictions with probability bars and risk badges</a:t>
            </a:r>
          </a:p>
          <a:p xmlns:a="http://schemas.openxmlformats.org/drawingml/2006/main">
            <a:r>
              <a:rPr lang="en-US" sz="1500">
                <a:solidFill>
                  <a:srgbClr val="1F2328"/>
                </a:solidFill>
              </a:rPr>
              <a:t>  Anomalies         Detected anomalies with severity, affected parameters, IF scores</a:t>
            </a:r>
          </a:p>
          <a:p xmlns:a="http://schemas.openxmlformats.org/drawingml/2006/main">
            <a:r>
              <a:rPr lang="en-US" sz="1500">
                <a:solidFill>
                  <a:srgbClr val="1F2328"/>
                </a:solidFill>
              </a:rPr>
              <a:t>  Recommendations   Human review panel -- APPROVE / REJECT with audit trail</a:t>
            </a:r>
          </a:p>
          <a:p xmlns:a="http://schemas.openxmlformats.org/drawingml/2006/main">
            <a:r>
              <a:rPr lang="en-US" sz="1500">
                <a:solidFill>
                  <a:srgbClr val="1F2328"/>
                </a:solidFill>
              </a:rPr>
              <a:t>  Model Performance Experiment 1 comparison table + SHAP importance bars (real metrics)</a:t>
            </a:r>
          </a:p>
          <a:p xmlns:a="http://schemas.openxmlformats.org/drawingml/2006/main">
            <a:r>
              <a:rPr lang="en-US" sz="1500">
                <a:solidFill>
                  <a:srgbClr val="1F2328"/>
                </a:solidFill>
              </a:rPr>
              <a:t>  AI Assistant      IBM Granite chat grounded in DB records + RAG passages</a:t>
            </a:r>
          </a:p>
        </p:txBody>
      </p:sp>
      <p:sp>
        <p:nvSpPr>
          <p:cNvPr id="100077" name="HITL"/>
          <p:cNvSpPr txBox="1"/>
          <p:nvPr/>
        </p:nvSpPr>
        <p:spPr>
          <a:xfrm xmlns:a="http://schemas.openxmlformats.org/drawingml/2006/main">
            <a:off x="540000" y="4320000"/>
            <a:ext cx="10800000" cy="1440000"/>
          </a:xfrm>
          <a:prstGeom xmlns:a="http://schemas.openxmlformats.org/drawingml/2006/main" prst="rect">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a:r>
              <a:rPr lang="en-US" sz="1500" b="0">
                <a:solidFill>
                  <a:srgbClr val="FFFFFF"/>
                </a:solidFill>
              </a:rPr>
              <a:t>Human-in-the-Loop (Responsible AI)</a:t>
            </a:r>
          </a:p>
          <a:p xmlns:a="http://schemas.openxmlformats.org/drawingml/2006/main">
            <a:r>
              <a:rPr lang="en-US" sz="1500" b="0">
                <a:solidFill>
                  <a:srgbClr val="FFFFFF"/>
                </a:solidFill>
              </a:rPr>
              <a:t>  Every recommendation is stored as AWAITING_REVIEW</a:t>
            </a:r>
          </a:p>
          <a:p xmlns:a="http://schemas.openxmlformats.org/drawingml/2006/main">
            <a:r>
              <a:rPr lang="en-US" sz="1500" b="0">
                <a:solidFill>
                  <a:srgbClr val="FFFFFF"/>
                </a:solidFill>
              </a:rPr>
              <a:t>  Engineer: APPROVE or REJECT via dashboard or POST /api/recommendations/{id}/review</a:t>
            </a:r>
          </a:p>
          <a:p xmlns:a="http://schemas.openxmlformats.org/drawingml/2006/main">
            <a:r>
              <a:rPr lang="en-US" sz="1500" b="0">
                <a:solidFill>
                  <a:srgbClr val="FFFFFF"/>
                </a:solidFill>
              </a:rPr>
              <a:t>  Corrective action recorded in database with reviewer ID and timestamp</a:t>
            </a:r>
          </a:p>
          <a:p xmlns:a="http://schemas.openxmlformats.org/drawingml/2006/main">
            <a:r>
              <a:rPr lang="en-US" sz="1500" b="0">
                <a:solidFill>
                  <a:srgbClr val="FFFFFF"/>
                </a:solidFill>
              </a:rPr>
              <a:t>  No recommendation triggers automated machine actuation</a:t>
            </a:r>
          </a:p>
        </p:txBody>
      </p:sp>
    </p:spTree>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8"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13</a:t>
            </a:r>
          </a:p>
        </p:txBody>
      </p:sp>
      <p:sp>
        <p:nvSpPr>
          <p:cNvPr id="100079"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Evaluation Results</a:t>
            </a:r>
          </a:p>
        </p:txBody>
      </p:sp>
      <p:sp>
        <p:nvSpPr>
          <p:cNvPr id="100080" name="MLMetrics"/>
          <p:cNvSpPr txBox="1"/>
          <p:nvPr/>
        </p:nvSpPr>
        <p:spPr>
          <a:xfrm xmlns:a="http://schemas.openxmlformats.org/drawingml/2006/main">
            <a:off x="540000" y="1152000"/>
            <a:ext cx="10800000" cy="1080000"/>
          </a:xfrm>
          <a:prstGeom xmlns:a="http://schemas.openxmlformats.org/drawingml/2006/main" prst="rect">
            <a:avLst/>
          </a:prstGeom>
          <a:solidFill xmlns:a="http://schemas.openxmlformats.org/drawingml/2006/main">
            <a:srgbClr val="375623"/>
          </a:solidFill>
        </p:spPr>
        <p:txBody>
          <a:bodyPr xmlns:a="http://schemas.openxmlformats.org/drawingml/2006/main"/>
          <a:lstStyle xmlns:a="http://schemas.openxmlformats.org/drawingml/2006/main"/>
          <a:p xmlns:a="http://schemas.openxmlformats.org/drawingml/2006/main">
            <a:r>
              <a:rPr lang="en-US" sz="1500">
                <a:solidFill>
                  <a:srgbClr val="FFFFFF"/>
                </a:solidFill>
              </a:rPr>
              <a:t>ML Model (XGBoost v1.0 -- Test Set, 300 records)</a:t>
            </a:r>
          </a:p>
          <a:p xmlns:a="http://schemas.openxmlformats.org/drawingml/2006/main">
            <a:r>
              <a:rPr lang="en-US" sz="1500">
                <a:solidFill>
                  <a:srgbClr val="FFFFFF"/>
                </a:solidFill>
              </a:rPr>
              <a:t>  F1 Score:  0.8217    PR-AUC:  0.9198    ROC-AUC:  0.9755</a:t>
            </a:r>
          </a:p>
          <a:p xmlns:a="http://schemas.openxmlformats.org/drawingml/2006/main">
            <a:r>
              <a:rPr lang="en-US" sz="1500">
                <a:solidFill>
                  <a:srgbClr val="FFFFFF"/>
                </a:solidFill>
              </a:rPr>
              <a:t>  Precision: (see confusion matrix)    Recall: (see confusion matrix)</a:t>
            </a:r>
          </a:p>
          <a:p xmlns:a="http://schemas.openxmlformats.org/drawingml/2006/main">
            <a:r>
              <a:rPr lang="en-US" sz="1500">
                <a:solidFill>
                  <a:srgbClr val="FFFFFF"/>
                </a:solidFill>
              </a:rPr>
              <a:t>  Model version tracked in ml/evaluation/model_version_v1.0.json</a:t>
            </a:r>
          </a:p>
        </p:txBody>
      </p:sp>
      <p:sp>
        <p:nvSpPr>
          <p:cNvPr id="100081" name="AnomalyEval"/>
          <p:cNvSpPr txBox="1"/>
          <p:nvPr/>
        </p:nvSpPr>
        <p:spPr>
          <a:xfrm xmlns:a="http://schemas.openxmlformats.org/drawingml/2006/main">
            <a:off x="540000" y="2340000"/>
            <a:ext cx="5220000" cy="1440000"/>
          </a:xfrm>
          <a:prstGeom xmlns:a="http://schemas.openxmlformats.org/drawingml/2006/main" prst="rect">
            <a:avLst/>
          </a:prstGeom>
          <a:solidFill xmlns:a="http://schemas.openxmlformats.org/drawingml/2006/main">
            <a:srgbClr val="EFF6FF"/>
          </a:solidFill>
        </p:spPr>
        <p:txBody>
          <a:bodyPr xmlns:a="http://schemas.openxmlformats.org/drawingml/2006/main"/>
          <a:lstStyle xmlns:a="http://schemas.openxmlformats.org/drawingml/2006/main"/>
          <a:p xmlns:a="http://schemas.openxmlformats.org/drawingml/2006/main">
            <a:r>
              <a:rPr lang="en-US" sz="1500">
                <a:solidFill>
                  <a:srgbClr val="1F2328"/>
                </a:solidFill>
              </a:rPr>
              <a:t>Anomaly Detection</a:t>
            </a:r>
          </a:p>
          <a:p xmlns:a="http://schemas.openxmlformats.org/drawingml/2006/main">
            <a:r>
              <a:rPr lang="en-US" sz="1500">
                <a:solidFill>
                  <a:srgbClr val="1F2328"/>
                </a:solidFill>
              </a:rPr>
              <a:t>  Isolation Forest: fitted on normal-class records, contamination tuned to class proportion</a:t>
            </a:r>
          </a:p>
          <a:p xmlns:a="http://schemas.openxmlformats.org/drawingml/2006/main">
            <a:r>
              <a:rPr lang="en-US" sz="1500">
                <a:solidFill>
                  <a:srgbClr val="1F2328"/>
                </a:solidFill>
              </a:rPr>
              <a:t>  IQR bounds: computed from Q1/Q3 of normal-class baseline, 2.5x IQR width</a:t>
            </a:r>
          </a:p>
          <a:p xmlns:a="http://schemas.openxmlformats.org/drawingml/2006/main">
            <a:r>
              <a:rPr lang="en-US" sz="1500">
                <a:solidFill>
                  <a:srgbClr val="1F2328"/>
                </a:solidFill>
              </a:rPr>
              <a:t>  Combined severity provides both global (IF) and per-parameter (IQR) evidence</a:t>
            </a:r>
          </a:p>
        </p:txBody>
      </p:sp>
      <p:sp>
        <p:nvSpPr>
          <p:cNvPr id="100082" name="RAGEval"/>
          <p:cNvSpPr txBox="1"/>
          <p:nvPr/>
        </p:nvSpPr>
        <p:spPr>
          <a:xfrm xmlns:a="http://schemas.openxmlformats.org/drawingml/2006/main">
            <a:off x="6120000" y="2340000"/>
            <a:ext cx="5220000" cy="1440000"/>
          </a:xfrm>
          <a:prstGeom xmlns:a="http://schemas.openxmlformats.org/drawingml/2006/main" prst="rect">
            <a:avLst/>
          </a:prstGeom>
          <a:solidFill xmlns:a="http://schemas.openxmlformats.org/drawingml/2006/main">
            <a:srgbClr val="F0FFF0"/>
          </a:solidFill>
        </p:spPr>
        <p:txBody>
          <a:bodyPr xmlns:a="http://schemas.openxmlformats.org/drawingml/2006/main"/>
          <a:lstStyle xmlns:a="http://schemas.openxmlformats.org/drawingml/2006/main"/>
          <a:p xmlns:a="http://schemas.openxmlformats.org/drawingml/2006/main">
            <a:r>
              <a:rPr lang="en-US" sz="1500">
                <a:solidFill>
                  <a:srgbClr val="1F2328"/>
                </a:solidFill>
              </a:rPr>
              <a:t>RAG Evaluation</a:t>
            </a:r>
          </a:p>
          <a:p xmlns:a="http://schemas.openxmlformats.org/drawingml/2006/main">
            <a:r>
              <a:rPr lang="en-US" sz="1500">
                <a:solidFill>
                  <a:srgbClr val="1F2328"/>
                </a:solidFill>
              </a:rPr>
              <a:t>  12 chunks indexed from 3 source documents</a:t>
            </a:r>
          </a:p>
          <a:p xmlns:a="http://schemas.openxmlformats.org/drawingml/2006/main">
            <a:r>
              <a:rPr lang="en-US" sz="1500">
                <a:solidFill>
                  <a:srgbClr val="1F2328"/>
                </a:solidFill>
              </a:rPr>
              <a:t>  Retrieval: cosine similarity, default embedding</a:t>
            </a:r>
          </a:p>
          <a:p xmlns:a="http://schemas.openxmlformats.org/drawingml/2006/main">
            <a:r>
              <a:rPr lang="en-US" sz="1500">
                <a:solidFill>
                  <a:srgbClr val="1F2328"/>
                </a:solidFill>
              </a:rPr>
              <a:t>  Quality tested via test_rag.py (relevant passage retrieval for tool wear, torque, thermal queries)</a:t>
            </a:r>
          </a:p>
          <a:p xmlns:a="http://schemas.openxmlformats.org/drawingml/2006/main">
            <a:r>
              <a:rPr lang="en-US" sz="1500">
                <a:solidFill>
                  <a:srgbClr val="1F2328"/>
                </a:solidFill>
              </a:rPr>
              <a:t>  Source attribution preserved on every retrieved passage</a:t>
            </a:r>
          </a:p>
        </p:txBody>
      </p:sp>
      <p:sp>
        <p:nvSpPr>
          <p:cNvPr id="100083" name="Tests"/>
          <p:cNvSpPr txBox="1"/>
          <p:nvPr/>
        </p:nvSpPr>
        <p:spPr>
          <a:xfrm xmlns:a="http://schemas.openxmlformats.org/drawingml/2006/main">
            <a:off x="540000" y="3960000"/>
            <a:ext cx="10800000" cy="900000"/>
          </a:xfrm>
          <a:prstGeom xmlns:a="http://schemas.openxmlformats.org/drawingml/2006/main" prst="rect">
            <a:avLst/>
          </a:prstGeom>
          <a:solidFill xmlns:a="http://schemas.openxmlformats.org/drawingml/2006/main">
            <a:srgbClr val="1F4E79"/>
          </a:solidFill>
        </p:spPr>
        <p:txBody>
          <a:bodyPr xmlns:a="http://schemas.openxmlformats.org/drawingml/2006/main"/>
          <a:lstStyle xmlns:a="http://schemas.openxmlformats.org/drawingml/2006/main"/>
          <a:p xmlns:a="http://schemas.openxmlformats.org/drawingml/2006/main">
            <a:r>
              <a:rPr lang="en-US" sz="1500">
                <a:solidFill>
                  <a:srgbClr val="FFFFFF"/>
                </a:solidFill>
              </a:rPr>
              <a:t>Test Suite: 41/41 passing  (integration: 12, unit: 29)</a:t>
            </a:r>
          </a:p>
          <a:p xmlns:a="http://schemas.openxmlformats.org/drawingml/2006/main">
            <a:r>
              <a:rPr lang="en-US" sz="1500">
                <a:solidFill>
                  <a:srgbClr val="FFFFFF"/>
                </a:solidFill>
              </a:rPr>
              <a:t>  Integration: API endpoints, pipeline execution, DB persistence, human review workflow</a:t>
            </a:r>
          </a:p>
          <a:p xmlns:a="http://schemas.openxmlformats.org/drawingml/2006/main">
            <a:r>
              <a:rPr lang="en-US" sz="1500">
                <a:solidFill>
                  <a:srgbClr val="FFFFFF"/>
                </a:solidFill>
              </a:rPr>
              <a:t>  Unit: preprocessing, anomaly detection, agent outputs, RAG ingestion + retrieval</a:t>
            </a:r>
          </a:p>
        </p:txBody>
      </p:sp>
      <p:sp>
        <p:nvSpPr>
          <p:cNvPr id="100084" name="Caveat"/>
          <p:cNvSpPr txBox="1"/>
          <p:nvPr/>
        </p:nvSpPr>
        <p:spPr>
          <a:xfrm xmlns:a="http://schemas.openxmlformats.org/drawingml/2006/main">
            <a:off x="540000" y="504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200">
                <a:solidFill>
                  <a:srgbClr val="57606A"/>
                </a:solidFill>
              </a:rPr>
              <a:t>All numbers from actual model evaluation. Not fabricated. See ml/evaluation/ for full results.</a:t>
            </a:r>
          </a:p>
        </p:txBody>
      </p:sp>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5"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14</a:t>
            </a:r>
          </a:p>
        </p:txBody>
      </p:sp>
      <p:sp>
        <p:nvSpPr>
          <p:cNvPr id="100086"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400" b="1">
                <a:solidFill>
                  <a:srgbClr val="052FAD"/>
                </a:solidFill>
              </a:rPr>
              <a:t>Limitations — What This System Does Not Claim</a:t>
            </a:r>
          </a:p>
        </p:txBody>
      </p:sp>
      <p:sp>
        <p:nvSpPr>
          <p:cNvPr id="100087" name="Limitations"/>
          <p:cNvSpPr txBox="1"/>
          <p:nvPr/>
        </p:nvSpPr>
        <p:spPr>
          <a:xfrm xmlns:a="http://schemas.openxmlformats.org/drawingml/2006/main">
            <a:off x="540000" y="1260000"/>
            <a:ext cx="10800000" cy="3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1F2328"/>
                </a:solidFill>
              </a:rPr>
              <a:t>Not claimed:</a:t>
            </a:r>
          </a:p>
          <a:p xmlns:a="http://schemas.openxmlformats.org/drawingml/2006/main">
            <a:r>
              <a:rPr lang="en-US" sz="1600">
                <a:solidFill>
                  <a:srgbClr val="1F2328"/>
                </a:solidFill>
              </a:rPr>
              <a:t/>
            </a:r>
          </a:p>
          <a:p xmlns:a="http://schemas.openxmlformats.org/drawingml/2006/main">
            <a:r>
              <a:rPr lang="en-US" sz="1600">
                <a:solidFill>
                  <a:srgbClr val="1F2328"/>
                </a:solidFill>
              </a:rPr>
              <a:t>  Not validated in a live factory environment</a:t>
            </a:r>
          </a:p>
          <a:p xmlns:a="http://schemas.openxmlformats.org/drawingml/2006/main">
            <a:r>
              <a:rPr lang="en-US" sz="1600">
                <a:solidFill>
                  <a:srgbClr val="1F2328"/>
                </a:solidFill>
              </a:rPr>
              <a:t>  Not a certified industrial safety control system</a:t>
            </a:r>
          </a:p>
          <a:p xmlns:a="http://schemas.openxmlformats.org/drawingml/2006/main">
            <a:r>
              <a:rPr lang="en-US" sz="1600">
                <a:solidFill>
                  <a:srgbClr val="1F2328"/>
                </a:solidFill>
              </a:rPr>
              <a:t>  Does not replace certified quality engineers</a:t>
            </a:r>
          </a:p>
          <a:p xmlns:a="http://schemas.openxmlformats.org/drawingml/2006/main">
            <a:r>
              <a:rPr lang="en-US" sz="1600">
                <a:solidFill>
                  <a:srgbClr val="1F2328"/>
                </a:solidFill>
              </a:rPr>
              <a:t>  Not connected to live sensor networks (simulated streaming only)</a:t>
            </a:r>
          </a:p>
          <a:p xmlns:a="http://schemas.openxmlformats.org/drawingml/2006/main">
            <a:r>
              <a:rPr lang="en-US" sz="1600">
                <a:solidFill>
                  <a:srgbClr val="1F2328"/>
                </a:solidFill>
              </a:rPr>
              <a:t>  Does not guarantee defect prevention</a:t>
            </a:r>
          </a:p>
          <a:p xmlns:a="http://schemas.openxmlformats.org/drawingml/2006/main">
            <a:r>
              <a:rPr lang="en-US" sz="1600">
                <a:solidFill>
                  <a:srgbClr val="1F2328"/>
                </a:solidFill>
              </a:rPr>
              <a:t>  Cannot claim causal certainty from SHAP association</a:t>
            </a:r>
          </a:p>
          <a:p xmlns:a="http://schemas.openxmlformats.org/drawingml/2006/main">
            <a:r>
              <a:rPr lang="en-US" sz="1600">
                <a:solidFill>
                  <a:srgbClr val="1F2328"/>
                </a:solidFill>
              </a:rPr>
              <a:t>  RAG knowledge base is limited to 3 documents (12 chunks)</a:t>
            </a:r>
          </a:p>
          <a:p xmlns:a="http://schemas.openxmlformats.org/drawingml/2006/main">
            <a:r>
              <a:rPr lang="en-US" sz="1600">
                <a:solidFill>
                  <a:srgbClr val="1F2328"/>
                </a:solidFill>
              </a:rPr>
              <a:t>  Granite narration is limited to cached responses when IBM API unavailable</a:t>
            </a:r>
          </a:p>
          <a:p xmlns:a="http://schemas.openxmlformats.org/drawingml/2006/main">
            <a:r>
              <a:rPr lang="en-US" sz="1600">
                <a:solidFill>
                  <a:srgbClr val="1F2328"/>
                </a:solidFill>
              </a:rPr>
              <a:t>  Isolation Forest threshold is data-derived, not engineering-validated</a:t>
            </a:r>
          </a:p>
          <a:p xmlns:a="http://schemas.openxmlformats.org/drawingml/2006/main">
            <a:r>
              <a:rPr lang="en-US" sz="1600">
                <a:solidFill>
                  <a:srgbClr val="1F2328"/>
                </a:solidFill>
              </a:rPr>
              <a:t>  Model trained on AI4I synthetic simulation dataset, not real CNC sensor logs</a:t>
            </a:r>
          </a:p>
          <a:p xmlns:a="http://schemas.openxmlformats.org/drawingml/2006/main">
            <a:r>
              <a:rPr lang="en-US" sz="1600">
                <a:solidFill>
                  <a:srgbClr val="1F2328"/>
                </a:solidFill>
              </a:rPr>
              <a:t>  Class imbalance handling: SMOTE/class weights not applied -- may affect minority recall</a:t>
            </a:r>
          </a:p>
          <a:p xmlns:a="http://schemas.openxmlformats.org/drawingml/2006/main">
            <a:r>
              <a:rPr lang="en-US" sz="1600">
                <a:solidFill>
                  <a:srgbClr val="1F2328"/>
                </a:solidFill>
              </a:rPr>
              <a:t>  LangFlow integration: Gate A (IBM access) pending -- workflow JSON ready but not live</a:t>
            </a:r>
          </a:p>
        </p:txBody>
      </p:sp>
      <p:sp>
        <p:nvSpPr>
          <p:cNvPr id="100088" name="Why"/>
          <p:cNvSpPr txBox="1"/>
          <p:nvPr/>
        </p:nvSpPr>
        <p:spPr>
          <a:xfrm xmlns:a="http://schemas.openxmlformats.org/drawingml/2006/main">
            <a:off x="540000" y="5112000"/>
            <a:ext cx="10800000" cy="720000"/>
          </a:xfrm>
          <a:prstGeom xmlns:a="http://schemas.openxmlformats.org/drawingml/2006/main" prst="rect">
            <a:avLst/>
          </a:prstGeom>
          <a:solidFill xmlns:a="http://schemas.openxmlformats.org/drawingml/2006/main">
            <a:srgbClr val="7C5CD8"/>
          </a:solidFill>
        </p:spPr>
        <p:txBody>
          <a:bodyPr xmlns:a="http://schemas.openxmlformats.org/drawingml/2006/main"/>
          <a:lstStyle xmlns:a="http://schemas.openxmlformats.org/drawingml/2006/main"/>
          <a:p xmlns:a="http://schemas.openxmlformats.org/drawingml/2006/main">
            <a:r>
              <a:rPr lang="en-US" sz="1500" b="1">
                <a:solidFill>
                  <a:srgbClr val="FFFFFF"/>
                </a:solidFill>
              </a:rPr>
              <a:t>Why state limitations explicitly? It demonstrates engineering credibility. Knowing what a system cannot do is as important as knowing what it can.</a:t>
            </a:r>
          </a:p>
        </p:txBody>
      </p:sp>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9" name="SlideNum"/>
          <p:cNvSpPr txBox="1"/>
          <p:nvPr/>
        </p:nvSpPr>
        <p:spPr>
          <a:xfrm xmlns:a="http://schemas.openxmlformats.org/drawingml/2006/main">
            <a:off x="180000" y="180000"/>
            <a:ext cx="72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15</a:t>
            </a:r>
          </a:p>
        </p:txBody>
      </p:sp>
      <p:sp>
        <p:nvSpPr>
          <p:cNvPr id="100090" name="Title"/>
          <p:cNvSpPr txBox="1"/>
          <p:nvPr/>
        </p:nvSpPr>
        <p:spPr>
          <a:xfrm xmlns:a="http://schemas.openxmlformats.org/drawingml/2006/main">
            <a:off x="540000" y="360000"/>
            <a:ext cx="10800000" cy="72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3600" b="1">
                <a:solidFill>
                  <a:srgbClr val="052FAD"/>
                </a:solidFill>
              </a:rPr>
              <a:t>Future Work</a:t>
            </a:r>
          </a:p>
        </p:txBody>
      </p:sp>
      <p:sp>
        <p:nvSpPr>
          <p:cNvPr id="100091" name="FW"/>
          <p:cNvSpPr txBox="1"/>
          <p:nvPr/>
        </p:nvSpPr>
        <p:spPr>
          <a:xfrm xmlns:a="http://schemas.openxmlformats.org/drawingml/2006/main">
            <a:off x="540000" y="1260000"/>
            <a:ext cx="10800000" cy="46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500">
                <a:solidFill>
                  <a:srgbClr val="1F2328"/>
                </a:solidFill>
              </a:rPr>
              <a:t>Near-term (after IBM access confirmed):</a:t>
            </a:r>
          </a:p>
          <a:p xmlns:a="http://schemas.openxmlformats.org/drawingml/2006/main">
            <a:r>
              <a:rPr lang="en-US" sz="1500">
                <a:solidFill>
                  <a:srgbClr val="1F2328"/>
                </a:solidFill>
              </a:rPr>
              <a:t>  1.  Wire live LangFlow workflow with IBM watsonx.ai Granite (Gate A closure)</a:t>
            </a:r>
          </a:p>
          <a:p xmlns:a="http://schemas.openxmlformats.org/drawingml/2006/main">
            <a:r>
              <a:rPr lang="en-US" sz="1500">
                <a:solidFill>
                  <a:srgbClr val="1F2328"/>
                </a:solidFill>
              </a:rPr>
              <a:t>  2.  Install ibm-watsonx-ai SDK and validate live Granite narration</a:t>
            </a:r>
          </a:p>
          <a:p xmlns:a="http://schemas.openxmlformats.org/drawingml/2006/main">
            <a:r>
              <a:rPr lang="en-US" sz="1500">
                <a:solidFill>
                  <a:srgbClr val="1F2328"/>
                </a:solidFill>
              </a:rPr>
              <a:t>  3.  Expand RAG knowledge base to 10+ documents</a:t>
            </a:r>
          </a:p>
          <a:p xmlns:a="http://schemas.openxmlformats.org/drawingml/2006/main">
            <a:r>
              <a:rPr lang="en-US" sz="1500">
                <a:solidFill>
                  <a:srgbClr val="1F2328"/>
                </a:solidFill>
              </a:rPr>
              <a:t>  4.  Apply class-weight tuning or SMOTE for improved minority recall</a:t>
            </a:r>
          </a:p>
          <a:p xmlns:a="http://schemas.openxmlformats.org/drawingml/2006/main">
            <a:r>
              <a:rPr lang="en-US" sz="1500">
                <a:solidFill>
                  <a:srgbClr val="1F2328"/>
                </a:solidFill>
              </a:rPr>
              <a:t/>
            </a:r>
          </a:p>
          <a:p xmlns:a="http://schemas.openxmlformats.org/drawingml/2006/main">
            <a:r>
              <a:rPr lang="en-US" sz="1500">
                <a:solidFill>
                  <a:srgbClr val="1F2328"/>
                </a:solidFill>
              </a:rPr>
              <a:t>Medium-term:</a:t>
            </a:r>
          </a:p>
          <a:p xmlns:a="http://schemas.openxmlformats.org/drawingml/2006/main">
            <a:r>
              <a:rPr lang="en-US" sz="1500">
                <a:solidFill>
                  <a:srgbClr val="1F2328"/>
                </a:solidFill>
              </a:rPr>
              <a:t>  5.  Real-time streaming simulation (FastAPI WebSocket + sliding window)</a:t>
            </a:r>
          </a:p>
          <a:p xmlns:a="http://schemas.openxmlformats.org/drawingml/2006/main">
            <a:r>
              <a:rPr lang="en-US" sz="1500">
                <a:solidFill>
                  <a:srgbClr val="1F2328"/>
                </a:solidFill>
              </a:rPr>
              <a:t>  6.  Multi-machine support (machine_id parameter routing)</a:t>
            </a:r>
          </a:p>
          <a:p xmlns:a="http://schemas.openxmlformats.org/drawingml/2006/main">
            <a:r>
              <a:rPr lang="en-US" sz="1500">
                <a:solidFill>
                  <a:srgbClr val="1F2328"/>
                </a:solidFill>
              </a:rPr>
              <a:t>  7.  PostgreSQL migration for production-grade persistence</a:t>
            </a:r>
          </a:p>
          <a:p xmlns:a="http://schemas.openxmlformats.org/drawingml/2006/main">
            <a:r>
              <a:rPr lang="en-US" sz="1500">
                <a:solidFill>
                  <a:srgbClr val="1F2328"/>
                </a:solidFill>
              </a:rPr>
              <a:t>  8.  Next.js frontend with Recharts live telemetry charts</a:t>
            </a:r>
          </a:p>
          <a:p xmlns:a="http://schemas.openxmlformats.org/drawingml/2006/main">
            <a:r>
              <a:rPr lang="en-US" sz="1500">
                <a:solidFill>
                  <a:srgbClr val="1F2328"/>
                </a:solidFill>
              </a:rPr>
              <a:t>  9.  Hosted ChromaDB or Pinecone for scalable RAG</a:t>
            </a:r>
          </a:p>
          <a:p xmlns:a="http://schemas.openxmlformats.org/drawingml/2006/main">
            <a:r>
              <a:rPr lang="en-US" sz="1500">
                <a:solidFill>
                  <a:srgbClr val="1F2328"/>
                </a:solidFill>
              </a:rPr>
              <a:t>  10. Model retraining pipeline with drift detection</a:t>
            </a:r>
          </a:p>
          <a:p xmlns:a="http://schemas.openxmlformats.org/drawingml/2006/main">
            <a:r>
              <a:rPr lang="en-US" sz="1500">
                <a:solidFill>
                  <a:srgbClr val="1F2328"/>
                </a:solidFill>
              </a:rPr>
              <a:t/>
            </a:r>
          </a:p>
          <a:p xmlns:a="http://schemas.openxmlformats.org/drawingml/2006/main">
            <a:r>
              <a:rPr lang="en-US" sz="1500">
                <a:solidFill>
                  <a:srgbClr val="1F2328"/>
                </a:solidFill>
              </a:rPr>
              <a:t>Long-term (production path):</a:t>
            </a:r>
          </a:p>
          <a:p xmlns:a="http://schemas.openxmlformats.org/drawingml/2006/main">
            <a:r>
              <a:rPr lang="en-US" sz="1500">
                <a:solidFill>
                  <a:srgbClr val="1F2328"/>
                </a:solidFill>
              </a:rPr>
              <a:t>  11. OPC-UA or MQTT integration for real sensor ingestion</a:t>
            </a:r>
          </a:p>
          <a:p xmlns:a="http://schemas.openxmlformats.org/drawingml/2006/main">
            <a:r>
              <a:rPr lang="en-US" sz="1500">
                <a:solidFill>
                  <a:srgbClr val="1F2328"/>
                </a:solidFill>
              </a:rPr>
              <a:t>  12. Certified edge deployment on industrial hardware</a:t>
            </a:r>
          </a:p>
          <a:p xmlns:a="http://schemas.openxmlformats.org/drawingml/2006/main">
            <a:r>
              <a:rPr lang="en-US" sz="1500">
                <a:solidFill>
                  <a:srgbClr val="1F2328"/>
                </a:solidFill>
              </a:rPr>
              <a:t>  13. ISO 9001 / IEC 62443 compliance review</a:t>
            </a:r>
          </a:p>
          <a:p xmlns:a="http://schemas.openxmlformats.org/drawingml/2006/main">
            <a:r>
              <a:rPr lang="en-US" sz="1500">
                <a:solidFill>
                  <a:srgbClr val="1F2328"/>
                </a:solidFill>
              </a:rPr>
              <a:t>  14. Multi-modal defect detection (image + process telemetry fusion)</a:t>
            </a:r>
          </a:p>
        </p:txBody>
      </p:sp>
    </p:spTree>
  </p:cSld>
</p:sld>
</file>

<file path=ppt/slides/slide17.xml><?xml version="1.0" encoding="utf-8"?>
<p:sld xmlns:p="http://schemas.openxmlformats.org/presentationml/2006/main">
  <p:cSld>
    <p:bg>
      <p:bgPr>
        <a:solidFill xmlns:a="http://schemas.openxmlformats.org/drawingml/2006/main">
          <a:srgbClr val="052FAD"/>
        </a:solidFill>
      </p:bgPr>
    </p:bg>
    <p:spTree>
      <p:nvGrpSpPr>
        <p:cNvPr id="1" name=""/>
        <p:cNvGrpSpPr/>
        <p:nvPr/>
      </p:nvGrpSpPr>
      <p:grpSpPr/>
      <p:sp>
        <p:nvSpPr>
          <p:cNvPr id="100092" name="Title"/>
          <p:cNvSpPr txBox="1"/>
          <p:nvPr/>
        </p:nvSpPr>
        <p:spPr>
          <a:xfrm xmlns:a="http://schemas.openxmlformats.org/drawingml/2006/main">
            <a:off x="540000" y="144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4800" b="1">
                <a:solidFill>
                  <a:srgbClr val="FFFFFF"/>
                </a:solidFill>
              </a:rPr>
              <a:t>Thank You</a:t>
            </a:r>
          </a:p>
        </p:txBody>
      </p:sp>
      <p:sp>
        <p:nvSpPr>
          <p:cNvPr id="100093" name="Tagline"/>
          <p:cNvSpPr txBox="1"/>
          <p:nvPr/>
        </p:nvSpPr>
        <p:spPr>
          <a:xfrm xmlns:a="http://schemas.openxmlformats.org/drawingml/2006/main">
            <a:off x="540000" y="2880000"/>
            <a:ext cx="10800000" cy="54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400" b="1">
                <a:solidFill>
                  <a:srgbClr val="BDD7EE"/>
                </a:solidFill>
              </a:rPr>
              <a:t>DATA  →  ML  →  DETECTION  →  PREDICTION  →  EXPLANATION  →  RECOMMENDATION  →  HUMAN DECISION</a:t>
            </a:r>
          </a:p>
        </p:txBody>
      </p:sp>
      <p:sp>
        <p:nvSpPr>
          <p:cNvPr id="100094" name="Repo"/>
          <p:cNvSpPr txBox="1"/>
          <p:nvPr/>
        </p:nvSpPr>
        <p:spPr>
          <a:xfrm xmlns:a="http://schemas.openxmlformats.org/drawingml/2006/main">
            <a:off x="540000" y="3780000"/>
            <a:ext cx="10800000" cy="108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600">
                <a:solidFill>
                  <a:srgbClr val="9DC3E6"/>
                </a:solidFill>
              </a:rPr>
              <a:t>Source code:  IndustrialGuard AI</a:t>
            </a:r>
          </a:p>
          <a:p xmlns:a="http://schemas.openxmlformats.org/drawingml/2006/main">
            <a:r>
              <a:rPr lang="en-US" sz="1600">
                <a:solidFill>
                  <a:srgbClr val="9DC3E6"/>
                </a:solidFill>
              </a:rPr>
              <a:t>Backend:  python app.py   |   Demo:  python app.py --demo</a:t>
            </a:r>
          </a:p>
          <a:p xmlns:a="http://schemas.openxmlformats.org/drawingml/2006/main">
            <a:r>
              <a:rPr lang="en-US" sz="1600">
                <a:solidFill>
                  <a:srgbClr val="9DC3E6"/>
                </a:solidFill>
              </a:rPr>
              <a:t>Tests:  41/41 passing   |   Dashboard:  open index.html</a:t>
            </a:r>
          </a:p>
        </p:txBody>
      </p:sp>
      <p:sp>
        <p:nvSpPr>
          <p:cNvPr id="100095" name="Disclaimer"/>
          <p:cNvSpPr txBox="1"/>
          <p:nvPr/>
        </p:nvSpPr>
        <p:spPr>
          <a:xfrm xmlns:a="http://schemas.openxmlformats.org/drawingml/2006/main">
            <a:off x="540000" y="5760000"/>
            <a:ext cx="10800000" cy="36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rPr lang="en-US" sz="1100">
                <a:solidFill>
                  <a:srgbClr val="9DC3E6"/>
                </a:solidFill>
              </a:rPr>
              <a:t>Decision-support prototype. Not for autonomous machine control. Not validated in a live industrial environment.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2026-09-23T20:37:16Z</dcterms:created>
  <cp:lastModifiedBy>OfficeCLI</cp:lastModifiedBy>
  <dcterms:modified xsi:type="dcterms:W3CDTF">2026-09-23T20:37:16Z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1.0.152</vt:lpwstr>
  </op:property>
  <op:property fmtid="{D5CDD505-2E9C-101B-9397-08002B2CF9AE}" pid="3" name="OfficeCLI.LastModified">
    <vt:lpwstr xmlns:vt="http://schemas.openxmlformats.org/officeDocument/2006/docPropsVTypes">2026-09-23T20:42:12Z</vt:lpwstr>
  </op:property>
</op:Properties>
</file>